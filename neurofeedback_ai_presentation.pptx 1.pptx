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77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611705-947C-4C7F-9403-C28C95CB4D3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542C60-E1C3-4F2A-8A91-6D085EC281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 method that trains people to regulate their brain activity</a:t>
          </a:r>
        </a:p>
      </dgm:t>
    </dgm:pt>
    <dgm:pt modelId="{488360E9-5A74-420B-B785-EEE3A4CFC22F}" type="parTrans" cxnId="{AF7EBB24-F8AC-46D0-BA6D-D455A964424F}">
      <dgm:prSet/>
      <dgm:spPr/>
      <dgm:t>
        <a:bodyPr/>
        <a:lstStyle/>
        <a:p>
          <a:endParaRPr lang="en-US"/>
        </a:p>
      </dgm:t>
    </dgm:pt>
    <dgm:pt modelId="{ABAC7B92-D5CD-46A1-B651-418650C320F6}" type="sibTrans" cxnId="{AF7EBB24-F8AC-46D0-BA6D-D455A964424F}">
      <dgm:prSet/>
      <dgm:spPr/>
      <dgm:t>
        <a:bodyPr/>
        <a:lstStyle/>
        <a:p>
          <a:endParaRPr lang="en-US"/>
        </a:p>
      </dgm:t>
    </dgm:pt>
    <dgm:pt modelId="{69C2DF1D-C278-430A-A084-9C78E7CDE5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Brain waves are measured using EEG sensors on the scalp</a:t>
          </a:r>
        </a:p>
      </dgm:t>
    </dgm:pt>
    <dgm:pt modelId="{DB11D0F5-FFDA-4A5F-9FEA-7A6BB2567131}" type="parTrans" cxnId="{ED2CE5BE-009E-4711-BF4B-9414722A0050}">
      <dgm:prSet/>
      <dgm:spPr/>
      <dgm:t>
        <a:bodyPr/>
        <a:lstStyle/>
        <a:p>
          <a:endParaRPr lang="en-US"/>
        </a:p>
      </dgm:t>
    </dgm:pt>
    <dgm:pt modelId="{7BA490FF-67FC-4247-84D0-36614FCC7AFA}" type="sibTrans" cxnId="{ED2CE5BE-009E-4711-BF4B-9414722A0050}">
      <dgm:prSet/>
      <dgm:spPr/>
      <dgm:t>
        <a:bodyPr/>
        <a:lstStyle/>
        <a:p>
          <a:endParaRPr lang="en-US"/>
        </a:p>
      </dgm:t>
    </dgm:pt>
    <dgm:pt modelId="{7B71B4BA-E781-492E-9F69-41F97AD80E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The system provides visual or audio feedback</a:t>
          </a:r>
        </a:p>
      </dgm:t>
    </dgm:pt>
    <dgm:pt modelId="{A364136B-82DC-45CD-B8D6-FD1A89B21085}" type="parTrans" cxnId="{1912D5C4-87CF-487F-BE47-95B63E43A32D}">
      <dgm:prSet/>
      <dgm:spPr/>
      <dgm:t>
        <a:bodyPr/>
        <a:lstStyle/>
        <a:p>
          <a:endParaRPr lang="en-US"/>
        </a:p>
      </dgm:t>
    </dgm:pt>
    <dgm:pt modelId="{4A5756CE-E52F-4B92-8045-FB2BF53E19A0}" type="sibTrans" cxnId="{1912D5C4-87CF-487F-BE47-95B63E43A32D}">
      <dgm:prSet/>
      <dgm:spPr/>
      <dgm:t>
        <a:bodyPr/>
        <a:lstStyle/>
        <a:p>
          <a:endParaRPr lang="en-US"/>
        </a:p>
      </dgm:t>
    </dgm:pt>
    <dgm:pt modelId="{4F037B76-3B1A-4A3F-A99A-7A3AD92D82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Users learn to adjust their brain activity through practice</a:t>
          </a:r>
        </a:p>
      </dgm:t>
    </dgm:pt>
    <dgm:pt modelId="{22B8FD67-06DB-45A4-A977-A062B0D1C6B0}" type="parTrans" cxnId="{75B4BD20-2543-49CE-8EED-CFB577F89CAB}">
      <dgm:prSet/>
      <dgm:spPr/>
      <dgm:t>
        <a:bodyPr/>
        <a:lstStyle/>
        <a:p>
          <a:endParaRPr lang="en-US"/>
        </a:p>
      </dgm:t>
    </dgm:pt>
    <dgm:pt modelId="{B18A1919-F97E-4380-9075-CEE10ED4FAFB}" type="sibTrans" cxnId="{75B4BD20-2543-49CE-8EED-CFB577F89CAB}">
      <dgm:prSet/>
      <dgm:spPr/>
      <dgm:t>
        <a:bodyPr/>
        <a:lstStyle/>
        <a:p>
          <a:endParaRPr lang="en-US"/>
        </a:p>
      </dgm:t>
    </dgm:pt>
    <dgm:pt modelId="{6A2FDEF1-EE2B-47BC-9816-301309F0669A}" type="pres">
      <dgm:prSet presAssocID="{DD611705-947C-4C7F-9403-C28C95CB4D39}" presName="root" presStyleCnt="0">
        <dgm:presLayoutVars>
          <dgm:dir/>
          <dgm:resizeHandles val="exact"/>
        </dgm:presLayoutVars>
      </dgm:prSet>
      <dgm:spPr/>
    </dgm:pt>
    <dgm:pt modelId="{9BD681FB-0036-437E-9712-1A6DF50D56DF}" type="pres">
      <dgm:prSet presAssocID="{23542C60-E1C3-4F2A-8A91-6D085EC28134}" presName="compNode" presStyleCnt="0"/>
      <dgm:spPr/>
    </dgm:pt>
    <dgm:pt modelId="{24EADF86-0570-4FB1-8FB4-3395C585556D}" type="pres">
      <dgm:prSet presAssocID="{23542C60-E1C3-4F2A-8A91-6D085EC28134}" presName="bgRect" presStyleLbl="bgShp" presStyleIdx="0" presStyleCnt="4"/>
      <dgm:spPr/>
    </dgm:pt>
    <dgm:pt modelId="{C37379B3-0F8F-4C04-8126-CE882DEB083A}" type="pres">
      <dgm:prSet presAssocID="{23542C60-E1C3-4F2A-8A91-6D085EC2813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DCB9F933-C915-4ACA-AF3A-B364E5CAFDFE}" type="pres">
      <dgm:prSet presAssocID="{23542C60-E1C3-4F2A-8A91-6D085EC28134}" presName="spaceRect" presStyleCnt="0"/>
      <dgm:spPr/>
    </dgm:pt>
    <dgm:pt modelId="{BCC800DD-8E42-4C8A-A57E-84BA660C44CF}" type="pres">
      <dgm:prSet presAssocID="{23542C60-E1C3-4F2A-8A91-6D085EC28134}" presName="parTx" presStyleLbl="revTx" presStyleIdx="0" presStyleCnt="4">
        <dgm:presLayoutVars>
          <dgm:chMax val="0"/>
          <dgm:chPref val="0"/>
        </dgm:presLayoutVars>
      </dgm:prSet>
      <dgm:spPr/>
    </dgm:pt>
    <dgm:pt modelId="{A1A6EE93-0DA8-4DA0-8BF9-89E8C2AB3550}" type="pres">
      <dgm:prSet presAssocID="{ABAC7B92-D5CD-46A1-B651-418650C320F6}" presName="sibTrans" presStyleCnt="0"/>
      <dgm:spPr/>
    </dgm:pt>
    <dgm:pt modelId="{AAF581AB-37D4-4B14-B66E-BFAE2631F758}" type="pres">
      <dgm:prSet presAssocID="{69C2DF1D-C278-430A-A084-9C78E7CDE5F2}" presName="compNode" presStyleCnt="0"/>
      <dgm:spPr/>
    </dgm:pt>
    <dgm:pt modelId="{957A3C06-F8A6-4566-A75A-725D5FD81D1A}" type="pres">
      <dgm:prSet presAssocID="{69C2DF1D-C278-430A-A084-9C78E7CDE5F2}" presName="bgRect" presStyleLbl="bgShp" presStyleIdx="1" presStyleCnt="4"/>
      <dgm:spPr/>
    </dgm:pt>
    <dgm:pt modelId="{F9EEB008-5FD1-42EF-B9A2-94020529B148}" type="pres">
      <dgm:prSet presAssocID="{69C2DF1D-C278-430A-A084-9C78E7CDE5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CE61EE3C-E502-4E08-B1BE-F23858A71207}" type="pres">
      <dgm:prSet presAssocID="{69C2DF1D-C278-430A-A084-9C78E7CDE5F2}" presName="spaceRect" presStyleCnt="0"/>
      <dgm:spPr/>
    </dgm:pt>
    <dgm:pt modelId="{8E750322-ABD8-447B-967B-1FB9A7A30233}" type="pres">
      <dgm:prSet presAssocID="{69C2DF1D-C278-430A-A084-9C78E7CDE5F2}" presName="parTx" presStyleLbl="revTx" presStyleIdx="1" presStyleCnt="4">
        <dgm:presLayoutVars>
          <dgm:chMax val="0"/>
          <dgm:chPref val="0"/>
        </dgm:presLayoutVars>
      </dgm:prSet>
      <dgm:spPr/>
    </dgm:pt>
    <dgm:pt modelId="{4DD37518-8F4E-4803-B629-F656125DBD00}" type="pres">
      <dgm:prSet presAssocID="{7BA490FF-67FC-4247-84D0-36614FCC7AFA}" presName="sibTrans" presStyleCnt="0"/>
      <dgm:spPr/>
    </dgm:pt>
    <dgm:pt modelId="{1A061F3B-6E0A-417D-8D21-13B9EE2DE57E}" type="pres">
      <dgm:prSet presAssocID="{7B71B4BA-E781-492E-9F69-41F97AD80E8E}" presName="compNode" presStyleCnt="0"/>
      <dgm:spPr/>
    </dgm:pt>
    <dgm:pt modelId="{477976E2-EA4A-4311-A794-6632E8E83570}" type="pres">
      <dgm:prSet presAssocID="{7B71B4BA-E781-492E-9F69-41F97AD80E8E}" presName="bgRect" presStyleLbl="bgShp" presStyleIdx="2" presStyleCnt="4"/>
      <dgm:spPr/>
    </dgm:pt>
    <dgm:pt modelId="{728431E4-5EAF-4BAE-898F-0083F8408B0A}" type="pres">
      <dgm:prSet presAssocID="{7B71B4BA-E781-492E-9F69-41F97AD80E8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8F9E6556-E7DB-4113-99A0-22EC146552B1}" type="pres">
      <dgm:prSet presAssocID="{7B71B4BA-E781-492E-9F69-41F97AD80E8E}" presName="spaceRect" presStyleCnt="0"/>
      <dgm:spPr/>
    </dgm:pt>
    <dgm:pt modelId="{407106AC-310F-4366-A291-FCFD3552EF08}" type="pres">
      <dgm:prSet presAssocID="{7B71B4BA-E781-492E-9F69-41F97AD80E8E}" presName="parTx" presStyleLbl="revTx" presStyleIdx="2" presStyleCnt="4">
        <dgm:presLayoutVars>
          <dgm:chMax val="0"/>
          <dgm:chPref val="0"/>
        </dgm:presLayoutVars>
      </dgm:prSet>
      <dgm:spPr/>
    </dgm:pt>
    <dgm:pt modelId="{04456C57-A426-43DB-85D6-30B00FF3529A}" type="pres">
      <dgm:prSet presAssocID="{4A5756CE-E52F-4B92-8045-FB2BF53E19A0}" presName="sibTrans" presStyleCnt="0"/>
      <dgm:spPr/>
    </dgm:pt>
    <dgm:pt modelId="{562F3EB0-9C99-4CF2-8821-B038898EE733}" type="pres">
      <dgm:prSet presAssocID="{4F037B76-3B1A-4A3F-A99A-7A3AD92D8291}" presName="compNode" presStyleCnt="0"/>
      <dgm:spPr/>
    </dgm:pt>
    <dgm:pt modelId="{78672849-4B76-454D-9880-96DA309405DB}" type="pres">
      <dgm:prSet presAssocID="{4F037B76-3B1A-4A3F-A99A-7A3AD92D8291}" presName="bgRect" presStyleLbl="bgShp" presStyleIdx="3" presStyleCnt="4"/>
      <dgm:spPr/>
    </dgm:pt>
    <dgm:pt modelId="{1D539B93-1A2C-4DBF-8CF6-A4A7B8B9C227}" type="pres">
      <dgm:prSet presAssocID="{4F037B76-3B1A-4A3F-A99A-7A3AD92D82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6A0A9C36-7A2C-4BB4-997E-FD886938531B}" type="pres">
      <dgm:prSet presAssocID="{4F037B76-3B1A-4A3F-A99A-7A3AD92D8291}" presName="spaceRect" presStyleCnt="0"/>
      <dgm:spPr/>
    </dgm:pt>
    <dgm:pt modelId="{13CF86F7-E587-4F4B-A4B4-DCEF658F8487}" type="pres">
      <dgm:prSet presAssocID="{4F037B76-3B1A-4A3F-A99A-7A3AD92D829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5B4BD20-2543-49CE-8EED-CFB577F89CAB}" srcId="{DD611705-947C-4C7F-9403-C28C95CB4D39}" destId="{4F037B76-3B1A-4A3F-A99A-7A3AD92D8291}" srcOrd="3" destOrd="0" parTransId="{22B8FD67-06DB-45A4-A977-A062B0D1C6B0}" sibTransId="{B18A1919-F97E-4380-9075-CEE10ED4FAFB}"/>
    <dgm:cxn modelId="{7EBAEA23-6553-4B4B-BCB1-F9C725F11B91}" type="presOf" srcId="{4F037B76-3B1A-4A3F-A99A-7A3AD92D8291}" destId="{13CF86F7-E587-4F4B-A4B4-DCEF658F8487}" srcOrd="0" destOrd="0" presId="urn:microsoft.com/office/officeart/2018/2/layout/IconVerticalSolidList"/>
    <dgm:cxn modelId="{AF7EBB24-F8AC-46D0-BA6D-D455A964424F}" srcId="{DD611705-947C-4C7F-9403-C28C95CB4D39}" destId="{23542C60-E1C3-4F2A-8A91-6D085EC28134}" srcOrd="0" destOrd="0" parTransId="{488360E9-5A74-420B-B785-EEE3A4CFC22F}" sibTransId="{ABAC7B92-D5CD-46A1-B651-418650C320F6}"/>
    <dgm:cxn modelId="{6338AF6E-A2C8-4FDC-8272-6DA75122C004}" type="presOf" srcId="{7B71B4BA-E781-492E-9F69-41F97AD80E8E}" destId="{407106AC-310F-4366-A291-FCFD3552EF08}" srcOrd="0" destOrd="0" presId="urn:microsoft.com/office/officeart/2018/2/layout/IconVerticalSolidList"/>
    <dgm:cxn modelId="{3131E7A6-FD07-4BCF-AECC-24D5179D2BA6}" type="presOf" srcId="{69C2DF1D-C278-430A-A084-9C78E7CDE5F2}" destId="{8E750322-ABD8-447B-967B-1FB9A7A30233}" srcOrd="0" destOrd="0" presId="urn:microsoft.com/office/officeart/2018/2/layout/IconVerticalSolidList"/>
    <dgm:cxn modelId="{C4D571BB-896D-458B-A8A8-294A42D2C2AB}" type="presOf" srcId="{23542C60-E1C3-4F2A-8A91-6D085EC28134}" destId="{BCC800DD-8E42-4C8A-A57E-84BA660C44CF}" srcOrd="0" destOrd="0" presId="urn:microsoft.com/office/officeart/2018/2/layout/IconVerticalSolidList"/>
    <dgm:cxn modelId="{ED2CE5BE-009E-4711-BF4B-9414722A0050}" srcId="{DD611705-947C-4C7F-9403-C28C95CB4D39}" destId="{69C2DF1D-C278-430A-A084-9C78E7CDE5F2}" srcOrd="1" destOrd="0" parTransId="{DB11D0F5-FFDA-4A5F-9FEA-7A6BB2567131}" sibTransId="{7BA490FF-67FC-4247-84D0-36614FCC7AFA}"/>
    <dgm:cxn modelId="{1912D5C4-87CF-487F-BE47-95B63E43A32D}" srcId="{DD611705-947C-4C7F-9403-C28C95CB4D39}" destId="{7B71B4BA-E781-492E-9F69-41F97AD80E8E}" srcOrd="2" destOrd="0" parTransId="{A364136B-82DC-45CD-B8D6-FD1A89B21085}" sibTransId="{4A5756CE-E52F-4B92-8045-FB2BF53E19A0}"/>
    <dgm:cxn modelId="{D9F373F7-1930-4411-985A-59276B25A2FC}" type="presOf" srcId="{DD611705-947C-4C7F-9403-C28C95CB4D39}" destId="{6A2FDEF1-EE2B-47BC-9816-301309F0669A}" srcOrd="0" destOrd="0" presId="urn:microsoft.com/office/officeart/2018/2/layout/IconVerticalSolidList"/>
    <dgm:cxn modelId="{AED9FB22-3E08-4095-9BCB-293941E83457}" type="presParOf" srcId="{6A2FDEF1-EE2B-47BC-9816-301309F0669A}" destId="{9BD681FB-0036-437E-9712-1A6DF50D56DF}" srcOrd="0" destOrd="0" presId="urn:microsoft.com/office/officeart/2018/2/layout/IconVerticalSolidList"/>
    <dgm:cxn modelId="{E7F183FF-5334-416F-B513-631EB88D5EF6}" type="presParOf" srcId="{9BD681FB-0036-437E-9712-1A6DF50D56DF}" destId="{24EADF86-0570-4FB1-8FB4-3395C585556D}" srcOrd="0" destOrd="0" presId="urn:microsoft.com/office/officeart/2018/2/layout/IconVerticalSolidList"/>
    <dgm:cxn modelId="{F0706AE5-056C-44F8-A511-4024245F785E}" type="presParOf" srcId="{9BD681FB-0036-437E-9712-1A6DF50D56DF}" destId="{C37379B3-0F8F-4C04-8126-CE882DEB083A}" srcOrd="1" destOrd="0" presId="urn:microsoft.com/office/officeart/2018/2/layout/IconVerticalSolidList"/>
    <dgm:cxn modelId="{9846BD88-165B-4269-B717-DE1B1C18129C}" type="presParOf" srcId="{9BD681FB-0036-437E-9712-1A6DF50D56DF}" destId="{DCB9F933-C915-4ACA-AF3A-B364E5CAFDFE}" srcOrd="2" destOrd="0" presId="urn:microsoft.com/office/officeart/2018/2/layout/IconVerticalSolidList"/>
    <dgm:cxn modelId="{7141CE51-46F0-4FD9-B190-EA4FF00301F2}" type="presParOf" srcId="{9BD681FB-0036-437E-9712-1A6DF50D56DF}" destId="{BCC800DD-8E42-4C8A-A57E-84BA660C44CF}" srcOrd="3" destOrd="0" presId="urn:microsoft.com/office/officeart/2018/2/layout/IconVerticalSolidList"/>
    <dgm:cxn modelId="{7FD1A8F9-DFD0-4373-BEC6-50A0DD2A7EDD}" type="presParOf" srcId="{6A2FDEF1-EE2B-47BC-9816-301309F0669A}" destId="{A1A6EE93-0DA8-4DA0-8BF9-89E8C2AB3550}" srcOrd="1" destOrd="0" presId="urn:microsoft.com/office/officeart/2018/2/layout/IconVerticalSolidList"/>
    <dgm:cxn modelId="{5EF2FCFF-9C60-422D-B745-6209678C9984}" type="presParOf" srcId="{6A2FDEF1-EE2B-47BC-9816-301309F0669A}" destId="{AAF581AB-37D4-4B14-B66E-BFAE2631F758}" srcOrd="2" destOrd="0" presId="urn:microsoft.com/office/officeart/2018/2/layout/IconVerticalSolidList"/>
    <dgm:cxn modelId="{3404B06D-1CE8-4F2E-9BFE-3B2955105532}" type="presParOf" srcId="{AAF581AB-37D4-4B14-B66E-BFAE2631F758}" destId="{957A3C06-F8A6-4566-A75A-725D5FD81D1A}" srcOrd="0" destOrd="0" presId="urn:microsoft.com/office/officeart/2018/2/layout/IconVerticalSolidList"/>
    <dgm:cxn modelId="{BB09568F-1D88-4DF8-ABDF-EDFDC70483F2}" type="presParOf" srcId="{AAF581AB-37D4-4B14-B66E-BFAE2631F758}" destId="{F9EEB008-5FD1-42EF-B9A2-94020529B148}" srcOrd="1" destOrd="0" presId="urn:microsoft.com/office/officeart/2018/2/layout/IconVerticalSolidList"/>
    <dgm:cxn modelId="{E1E27F35-4278-41DD-83AD-952E6D16F220}" type="presParOf" srcId="{AAF581AB-37D4-4B14-B66E-BFAE2631F758}" destId="{CE61EE3C-E502-4E08-B1BE-F23858A71207}" srcOrd="2" destOrd="0" presId="urn:microsoft.com/office/officeart/2018/2/layout/IconVerticalSolidList"/>
    <dgm:cxn modelId="{529BAB52-9CFF-4D0A-B0B5-1FF7B3EF7679}" type="presParOf" srcId="{AAF581AB-37D4-4B14-B66E-BFAE2631F758}" destId="{8E750322-ABD8-447B-967B-1FB9A7A30233}" srcOrd="3" destOrd="0" presId="urn:microsoft.com/office/officeart/2018/2/layout/IconVerticalSolidList"/>
    <dgm:cxn modelId="{B5771E94-90A5-4CF7-86C1-B166A0C00AE8}" type="presParOf" srcId="{6A2FDEF1-EE2B-47BC-9816-301309F0669A}" destId="{4DD37518-8F4E-4803-B629-F656125DBD00}" srcOrd="3" destOrd="0" presId="urn:microsoft.com/office/officeart/2018/2/layout/IconVerticalSolidList"/>
    <dgm:cxn modelId="{AEB68A93-C075-4BC9-8FC2-7F794DF4BDB7}" type="presParOf" srcId="{6A2FDEF1-EE2B-47BC-9816-301309F0669A}" destId="{1A061F3B-6E0A-417D-8D21-13B9EE2DE57E}" srcOrd="4" destOrd="0" presId="urn:microsoft.com/office/officeart/2018/2/layout/IconVerticalSolidList"/>
    <dgm:cxn modelId="{875A6F08-CD4F-41DA-B452-791B9005392D}" type="presParOf" srcId="{1A061F3B-6E0A-417D-8D21-13B9EE2DE57E}" destId="{477976E2-EA4A-4311-A794-6632E8E83570}" srcOrd="0" destOrd="0" presId="urn:microsoft.com/office/officeart/2018/2/layout/IconVerticalSolidList"/>
    <dgm:cxn modelId="{96CA8448-9D77-4FDA-A03E-DE3D6825AA6F}" type="presParOf" srcId="{1A061F3B-6E0A-417D-8D21-13B9EE2DE57E}" destId="{728431E4-5EAF-4BAE-898F-0083F8408B0A}" srcOrd="1" destOrd="0" presId="urn:microsoft.com/office/officeart/2018/2/layout/IconVerticalSolidList"/>
    <dgm:cxn modelId="{7E5A35AB-2D7C-4158-9E7C-47E509A11B8E}" type="presParOf" srcId="{1A061F3B-6E0A-417D-8D21-13B9EE2DE57E}" destId="{8F9E6556-E7DB-4113-99A0-22EC146552B1}" srcOrd="2" destOrd="0" presId="urn:microsoft.com/office/officeart/2018/2/layout/IconVerticalSolidList"/>
    <dgm:cxn modelId="{5B2C09F3-2423-4308-B7B4-FED28CFFF44F}" type="presParOf" srcId="{1A061F3B-6E0A-417D-8D21-13B9EE2DE57E}" destId="{407106AC-310F-4366-A291-FCFD3552EF08}" srcOrd="3" destOrd="0" presId="urn:microsoft.com/office/officeart/2018/2/layout/IconVerticalSolidList"/>
    <dgm:cxn modelId="{7EC73061-12A8-4CFE-97F1-CEAD5AAC1EB3}" type="presParOf" srcId="{6A2FDEF1-EE2B-47BC-9816-301309F0669A}" destId="{04456C57-A426-43DB-85D6-30B00FF3529A}" srcOrd="5" destOrd="0" presId="urn:microsoft.com/office/officeart/2018/2/layout/IconVerticalSolidList"/>
    <dgm:cxn modelId="{1A047A29-93DB-42AB-B4F8-936C64B2B2FB}" type="presParOf" srcId="{6A2FDEF1-EE2B-47BC-9816-301309F0669A}" destId="{562F3EB0-9C99-4CF2-8821-B038898EE733}" srcOrd="6" destOrd="0" presId="urn:microsoft.com/office/officeart/2018/2/layout/IconVerticalSolidList"/>
    <dgm:cxn modelId="{6CC3D336-072B-4661-87CF-213E52ACA89E}" type="presParOf" srcId="{562F3EB0-9C99-4CF2-8821-B038898EE733}" destId="{78672849-4B76-454D-9880-96DA309405DB}" srcOrd="0" destOrd="0" presId="urn:microsoft.com/office/officeart/2018/2/layout/IconVerticalSolidList"/>
    <dgm:cxn modelId="{EABA72FD-6CDE-40AD-8BB9-68167B9CE61D}" type="presParOf" srcId="{562F3EB0-9C99-4CF2-8821-B038898EE733}" destId="{1D539B93-1A2C-4DBF-8CF6-A4A7B8B9C227}" srcOrd="1" destOrd="0" presId="urn:microsoft.com/office/officeart/2018/2/layout/IconVerticalSolidList"/>
    <dgm:cxn modelId="{A4E6DB1A-0529-43C2-B9E2-02D8D5E454D7}" type="presParOf" srcId="{562F3EB0-9C99-4CF2-8821-B038898EE733}" destId="{6A0A9C36-7A2C-4BB4-997E-FD886938531B}" srcOrd="2" destOrd="0" presId="urn:microsoft.com/office/officeart/2018/2/layout/IconVerticalSolidList"/>
    <dgm:cxn modelId="{507488DC-395D-4C1C-BE7A-D07785D125A3}" type="presParOf" srcId="{562F3EB0-9C99-4CF2-8821-B038898EE733}" destId="{13CF86F7-E587-4F4B-A4B4-DCEF658F84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ADF86-0570-4FB1-8FB4-3395C585556D}">
      <dsp:nvSpPr>
        <dsp:cNvPr id="0" name=""/>
        <dsp:cNvSpPr/>
      </dsp:nvSpPr>
      <dsp:spPr>
        <a:xfrm>
          <a:off x="0" y="2032"/>
          <a:ext cx="5258318" cy="10303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7379B3-0F8F-4C04-8126-CE882DEB083A}">
      <dsp:nvSpPr>
        <dsp:cNvPr id="0" name=""/>
        <dsp:cNvSpPr/>
      </dsp:nvSpPr>
      <dsp:spPr>
        <a:xfrm>
          <a:off x="311667" y="233851"/>
          <a:ext cx="566668" cy="5666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800DD-8E42-4C8A-A57E-84BA660C44CF}">
      <dsp:nvSpPr>
        <dsp:cNvPr id="0" name=""/>
        <dsp:cNvSpPr/>
      </dsp:nvSpPr>
      <dsp:spPr>
        <a:xfrm>
          <a:off x="1190004" y="2032"/>
          <a:ext cx="4068313" cy="103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041" tIns="109041" rIns="109041" bIns="10904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A method that trains people to regulate their brain activity</a:t>
          </a:r>
        </a:p>
      </dsp:txBody>
      <dsp:txXfrm>
        <a:off x="1190004" y="2032"/>
        <a:ext cx="4068313" cy="1030306"/>
      </dsp:txXfrm>
    </dsp:sp>
    <dsp:sp modelId="{957A3C06-F8A6-4566-A75A-725D5FD81D1A}">
      <dsp:nvSpPr>
        <dsp:cNvPr id="0" name=""/>
        <dsp:cNvSpPr/>
      </dsp:nvSpPr>
      <dsp:spPr>
        <a:xfrm>
          <a:off x="0" y="1289916"/>
          <a:ext cx="5258318" cy="10303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EB008-5FD1-42EF-B9A2-94020529B148}">
      <dsp:nvSpPr>
        <dsp:cNvPr id="0" name=""/>
        <dsp:cNvSpPr/>
      </dsp:nvSpPr>
      <dsp:spPr>
        <a:xfrm>
          <a:off x="311667" y="1521735"/>
          <a:ext cx="566668" cy="5666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50322-ABD8-447B-967B-1FB9A7A30233}">
      <dsp:nvSpPr>
        <dsp:cNvPr id="0" name=""/>
        <dsp:cNvSpPr/>
      </dsp:nvSpPr>
      <dsp:spPr>
        <a:xfrm>
          <a:off x="1190004" y="1289916"/>
          <a:ext cx="4068313" cy="103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041" tIns="109041" rIns="109041" bIns="10904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Brain waves are measured using EEG sensors on the scalp</a:t>
          </a:r>
        </a:p>
      </dsp:txBody>
      <dsp:txXfrm>
        <a:off x="1190004" y="1289916"/>
        <a:ext cx="4068313" cy="1030306"/>
      </dsp:txXfrm>
    </dsp:sp>
    <dsp:sp modelId="{477976E2-EA4A-4311-A794-6632E8E83570}">
      <dsp:nvSpPr>
        <dsp:cNvPr id="0" name=""/>
        <dsp:cNvSpPr/>
      </dsp:nvSpPr>
      <dsp:spPr>
        <a:xfrm>
          <a:off x="0" y="2577799"/>
          <a:ext cx="5258318" cy="10303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431E4-5EAF-4BAE-898F-0083F8408B0A}">
      <dsp:nvSpPr>
        <dsp:cNvPr id="0" name=""/>
        <dsp:cNvSpPr/>
      </dsp:nvSpPr>
      <dsp:spPr>
        <a:xfrm>
          <a:off x="311667" y="2809618"/>
          <a:ext cx="566668" cy="5666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106AC-310F-4366-A291-FCFD3552EF08}">
      <dsp:nvSpPr>
        <dsp:cNvPr id="0" name=""/>
        <dsp:cNvSpPr/>
      </dsp:nvSpPr>
      <dsp:spPr>
        <a:xfrm>
          <a:off x="1190004" y="2577799"/>
          <a:ext cx="4068313" cy="103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041" tIns="109041" rIns="109041" bIns="10904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The system provides visual or audio feedback</a:t>
          </a:r>
        </a:p>
      </dsp:txBody>
      <dsp:txXfrm>
        <a:off x="1190004" y="2577799"/>
        <a:ext cx="4068313" cy="1030306"/>
      </dsp:txXfrm>
    </dsp:sp>
    <dsp:sp modelId="{78672849-4B76-454D-9880-96DA309405DB}">
      <dsp:nvSpPr>
        <dsp:cNvPr id="0" name=""/>
        <dsp:cNvSpPr/>
      </dsp:nvSpPr>
      <dsp:spPr>
        <a:xfrm>
          <a:off x="0" y="3865683"/>
          <a:ext cx="5258318" cy="10303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39B93-1A2C-4DBF-8CF6-A4A7B8B9C227}">
      <dsp:nvSpPr>
        <dsp:cNvPr id="0" name=""/>
        <dsp:cNvSpPr/>
      </dsp:nvSpPr>
      <dsp:spPr>
        <a:xfrm>
          <a:off x="311667" y="4097502"/>
          <a:ext cx="566668" cy="5666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F86F7-E587-4F4B-A4B4-DCEF658F8487}">
      <dsp:nvSpPr>
        <dsp:cNvPr id="0" name=""/>
        <dsp:cNvSpPr/>
      </dsp:nvSpPr>
      <dsp:spPr>
        <a:xfrm>
          <a:off x="1190004" y="3865683"/>
          <a:ext cx="4068313" cy="103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041" tIns="109041" rIns="109041" bIns="10904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Users learn to adjust their brain activity through practice</a:t>
          </a:r>
        </a:p>
      </dsp:txBody>
      <dsp:txXfrm>
        <a:off x="1190004" y="3865683"/>
        <a:ext cx="4068313" cy="1030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516A0-3C42-439F-8024-73A613156727}" type="datetimeFigureOut">
              <a:rPr lang="en-CA" smtClean="0"/>
              <a:t>2026-03-09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C5900-EB86-4854-8E41-DD36EA18E4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1160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C5900-EB86-4854-8E41-DD36EA18E4E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8999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51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1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7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7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5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2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7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9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4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1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75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8229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22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03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10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7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6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90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slideLayout" Target="../slideLayouts/slideLayout2.xml"/><Relationship Id="rId7" Type="http://schemas.openxmlformats.org/officeDocument/2006/relationships/diagramLayout" Target="../diagrams/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diagramData" Target="../diagrams/data1.xml"/><Relationship Id="rId11" Type="http://schemas.openxmlformats.org/officeDocument/2006/relationships/image" Target="../media/image12.png"/><Relationship Id="rId5" Type="http://schemas.openxmlformats.org/officeDocument/2006/relationships/image" Target="../media/image2.png"/><Relationship Id="rId10" Type="http://schemas.microsoft.com/office/2007/relationships/diagramDrawing" Target="../diagrams/drawing1.xml"/><Relationship Id="rId4" Type="http://schemas.openxmlformats.org/officeDocument/2006/relationships/notesSlide" Target="../notesSlides/notesSlide1.xml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3.jpe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18518"/>
            <a:ext cx="7574359" cy="1040949"/>
          </a:xfrm>
        </p:spPr>
        <p:txBody>
          <a:bodyPr>
            <a:normAutofit fontScale="90000"/>
          </a:bodyPr>
          <a:lstStyle/>
          <a:p>
            <a:r>
              <a:rPr dirty="0"/>
              <a:t>Neurofeedback and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4" y="1659467"/>
            <a:ext cx="7913026" cy="4859866"/>
          </a:xfrm>
        </p:spPr>
        <p:txBody>
          <a:bodyPr>
            <a:normAutofit/>
          </a:bodyPr>
          <a:lstStyle/>
          <a:p>
            <a:r>
              <a:rPr dirty="0"/>
              <a:t>• </a:t>
            </a:r>
            <a:r>
              <a:rPr lang="en-US" dirty="0"/>
              <a:t>• </a:t>
            </a:r>
            <a:r>
              <a:rPr dirty="0"/>
              <a:t>• AI helps interpret complex brainwave patterns</a:t>
            </a:r>
          </a:p>
          <a:p>
            <a:r>
              <a:rPr dirty="0"/>
              <a:t>• Goal: improve personalized brain training and treatment</a:t>
            </a:r>
            <a:endParaRPr lang="en-CA" dirty="0"/>
          </a:p>
          <a:p>
            <a:r>
              <a:rPr lang="en-CA" dirty="0"/>
              <a:t>Using </a:t>
            </a:r>
            <a:r>
              <a:rPr lang="en-CA"/>
              <a:t>EGGLAB software.</a:t>
            </a:r>
            <a:endParaRPr lang="en-CA" dirty="0"/>
          </a:p>
          <a:p>
            <a:r>
              <a:rPr lang="en-CA" dirty="0"/>
              <a:t>Resource: https://pmc.ncbi.nlm.nih.gov/articles/PMC4892319/#:~:text=Neurofeedback%20is%20a%20kind%20of,and%20providing%20a%20feedback%20signal.</a:t>
            </a:r>
            <a:endParaRPr lang="en-US" dirty="0"/>
          </a:p>
          <a:p>
            <a:endParaRPr dirty="0"/>
          </a:p>
        </p:txBody>
      </p:sp>
      <p:pic>
        <p:nvPicPr>
          <p:cNvPr id="51" name="Video 50">
            <a:hlinkClick r:id="" action="ppaction://media"/>
            <a:extLst>
              <a:ext uri="{FF2B5EF4-FFF2-40B4-BE49-F238E27FC236}">
                <a16:creationId xmlns:a16="http://schemas.microsoft.com/office/drawing/2014/main" id="{51EED75D-C3A9-A0B1-C46B-6FD72B5A16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297037"/>
    </mc:Choice>
    <mc:Fallback xmlns="">
      <p:transition spd="slow" advTm="612970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75" y="-11384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45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" y="-9998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4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78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13238"/>
            <a:ext cx="304703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97" y="1134681"/>
            <a:ext cx="2057483" cy="4255025"/>
          </a:xfrm>
        </p:spPr>
        <p:txBody>
          <a:bodyPr>
            <a:normAutofit/>
          </a:bodyPr>
          <a:lstStyle/>
          <a:p>
            <a:r>
              <a:rPr lang="en-CA" sz="1700">
                <a:solidFill>
                  <a:srgbClr val="FFFFFF"/>
                </a:solidFill>
              </a:rPr>
              <a:t>What is Neurofeedback?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AE0F5F-789D-E400-AAD9-1D1E1327F6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087003"/>
              </p:ext>
            </p:extLst>
          </p:nvPr>
        </p:nvGraphicFramePr>
        <p:xfrm>
          <a:off x="3496641" y="338667"/>
          <a:ext cx="5258318" cy="4898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70" name="Video 169">
            <a:hlinkClick r:id="" action="ppaction://media"/>
            <a:extLst>
              <a:ext uri="{FF2B5EF4-FFF2-40B4-BE49-F238E27FC236}">
                <a16:creationId xmlns:a16="http://schemas.microsoft.com/office/drawing/2014/main" id="{991DA7F0-777E-B1D7-9AA5-B245300137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1"/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61308301"/>
    </mc:Choice>
    <mc:Fallback xmlns="">
      <p:transition spd="slow" advTm="613083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522" y="618518"/>
            <a:ext cx="4538035" cy="1478570"/>
          </a:xfrm>
        </p:spPr>
        <p:txBody>
          <a:bodyPr>
            <a:normAutofit/>
          </a:bodyPr>
          <a:lstStyle/>
          <a:p>
            <a:r>
              <a:t>Why AI is Important in Neurofeedback</a:t>
            </a:r>
          </a:p>
        </p:txBody>
      </p:sp>
      <p:pic>
        <p:nvPicPr>
          <p:cNvPr id="5" name="Picture 4" descr="Angle view of circuit shaped like a brain">
            <a:extLst>
              <a:ext uri="{FF2B5EF4-FFF2-40B4-BE49-F238E27FC236}">
                <a16:creationId xmlns:a16="http://schemas.microsoft.com/office/drawing/2014/main" id="{6783F27F-887B-4D61-71A2-142B484BEF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393" r="32248" b="2"/>
          <a:stretch>
            <a:fillRect/>
          </a:stretch>
        </p:blipFill>
        <p:spPr>
          <a:xfrm>
            <a:off x="-4197" y="10"/>
            <a:ext cx="3476686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6718" y="2249487"/>
            <a:ext cx="4558840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• AI can analyze large datasets much faster than humans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• Machine learning models identify hidden patterns in brain signals</a:t>
            </a:r>
          </a:p>
        </p:txBody>
      </p:sp>
      <p:pic>
        <p:nvPicPr>
          <p:cNvPr id="83" name="Video 82">
            <a:hlinkClick r:id="" action="ppaction://media"/>
            <a:extLst>
              <a:ext uri="{FF2B5EF4-FFF2-40B4-BE49-F238E27FC236}">
                <a16:creationId xmlns:a16="http://schemas.microsoft.com/office/drawing/2014/main" id="{AD74BDF2-D3BF-A328-209D-E40C4FB233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15585"/>
    </mc:Choice>
    <mc:Fallback xmlns="">
      <p:transition spd="slow" advTm="613155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Medical and Cognitive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6289807" cy="3989995"/>
          </a:xfrm>
        </p:spPr>
        <p:txBody>
          <a:bodyPr/>
          <a:lstStyle/>
          <a:p>
            <a:r>
              <a:rPr lang="en-US"/>
              <a:t>• ADHD – improving attention and focus</a:t>
            </a:r>
          </a:p>
          <a:p>
            <a:r>
              <a:rPr lang="en-US"/>
              <a:t>• Anxiety – helping regulate stress responses</a:t>
            </a:r>
          </a:p>
          <a:p>
            <a:r>
              <a:rPr lang="en-US"/>
              <a:t>• Depression – supporting emotional regulation</a:t>
            </a:r>
          </a:p>
          <a:p>
            <a:r>
              <a:rPr lang="en-US"/>
              <a:t>• Learning disorders – improving cognitive performance</a:t>
            </a:r>
          </a:p>
          <a:p>
            <a:r>
              <a:rPr lang="en-US"/>
              <a:t>• Research is ongoing to confirm long-term effectiveness</a:t>
            </a:r>
            <a:endParaRPr lang="en-US" dirty="0"/>
          </a:p>
        </p:txBody>
      </p:sp>
      <p:pic>
        <p:nvPicPr>
          <p:cNvPr id="29" name="Video 28">
            <a:hlinkClick r:id="" action="ppaction://media"/>
            <a:extLst>
              <a:ext uri="{FF2B5EF4-FFF2-40B4-BE49-F238E27FC236}">
                <a16:creationId xmlns:a16="http://schemas.microsoft.com/office/drawing/2014/main" id="{1063D8D7-0DDE-0E04-E536-B445127949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33067"/>
    </mc:Choice>
    <mc:Fallback xmlns="">
      <p:transition spd="slow" advTm="613330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73</TotalTime>
  <Words>176</Words>
  <Application>Microsoft Office PowerPoint</Application>
  <PresentationFormat>On-screen Show (4:3)</PresentationFormat>
  <Paragraphs>20</Paragraphs>
  <Slides>4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Tw Cen MT</vt:lpstr>
      <vt:lpstr>Circuit</vt:lpstr>
      <vt:lpstr>Neurofeedback and Artificial Intelligence</vt:lpstr>
      <vt:lpstr>What is Neurofeedback?</vt:lpstr>
      <vt:lpstr>Why AI is Important in Neurofeedback</vt:lpstr>
      <vt:lpstr>Medical and Cognitive 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mahsa beigi</dc:creator>
  <cp:keywords/>
  <dc:description>generated using python-pptx</dc:description>
  <cp:lastModifiedBy>mahsa bg</cp:lastModifiedBy>
  <cp:revision>5</cp:revision>
  <dcterms:created xsi:type="dcterms:W3CDTF">2013-01-27T09:14:16Z</dcterms:created>
  <dcterms:modified xsi:type="dcterms:W3CDTF">2026-03-09T21:58:03Z</dcterms:modified>
  <cp:category/>
</cp:coreProperties>
</file>