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1166"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EAAB2D-2502-4E98-B02C-70F75B109C99}" type="datetimeFigureOut">
              <a:rPr lang="en-CA" smtClean="0"/>
              <a:t>2026-03-09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489DBD-E81E-4916-9B7A-555E4E86B2BF}" type="slidenum">
              <a:rPr lang="en-CA" smtClean="0"/>
              <a:t>‹#›</a:t>
            </a:fld>
            <a:endParaRPr lang="en-CA"/>
          </a:p>
        </p:txBody>
      </p:sp>
    </p:spTree>
    <p:extLst>
      <p:ext uri="{BB962C8B-B14F-4D97-AF65-F5344CB8AC3E}">
        <p14:creationId xmlns:p14="http://schemas.microsoft.com/office/powerpoint/2010/main" val="3675108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Image source: Microsoft 365 content library
Sepsis is a life-threatening condition caused by the body's dysregulated response to infection. It can quickly progress to organ dysfunction, septic shock, and death if untreated. Symptoms are nonspecific and develop rapidly, making early recognition difficult in busy clinical settings. Timely treatment, particularly antibiotics, is essential for survival.</a:t>
            </a:r>
          </a:p>
        </p:txBody>
      </p:sp>
      <p:sp>
        <p:nvSpPr>
          <p:cNvPr id="4" name="Slide Number Placeholder 3"/>
          <p:cNvSpPr>
            <a:spLocks noGrp="1"/>
          </p:cNvSpPr>
          <p:nvPr>
            <p:ph type="sldNum" sz="quarter" idx="5"/>
          </p:nvPr>
        </p:nvSpPr>
        <p:spPr/>
        <p:txBody>
          <a:bodyPr/>
          <a:lstStyle/>
          <a:p>
            <a:fld id="{B29788F9-6296-45E8-8380-75C1D82EF63E}" type="slidenum">
              <a:rPr lang="en-CA" smtClean="0"/>
              <a:t>2</a:t>
            </a:fld>
            <a:endParaRPr lang="en-CA"/>
          </a:p>
        </p:txBody>
      </p:sp>
    </p:spTree>
    <p:extLst>
      <p:ext uri="{BB962C8B-B14F-4D97-AF65-F5344CB8AC3E}">
        <p14:creationId xmlns:p14="http://schemas.microsoft.com/office/powerpoint/2010/main" val="3204797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Image source: Microsoft 365 content library
Delaying recognition of sepsis greatly increases mortality risk. Early intervention leads to better survival rates, improved ICU outcomes, and shorter hospital stays. Clinicians face challenges interpreting large volumes of patient data, and traditional scoring systems may overlook early warning signs. Key takeaway: AI can help identify hidden clinical patterns earlier than humans alone.</a:t>
            </a:r>
          </a:p>
        </p:txBody>
      </p:sp>
      <p:sp>
        <p:nvSpPr>
          <p:cNvPr id="4" name="Slide Number Placeholder 3"/>
          <p:cNvSpPr>
            <a:spLocks noGrp="1"/>
          </p:cNvSpPr>
          <p:nvPr>
            <p:ph type="sldNum" sz="quarter" idx="5"/>
          </p:nvPr>
        </p:nvSpPr>
        <p:spPr/>
        <p:txBody>
          <a:bodyPr/>
          <a:lstStyle/>
          <a:p>
            <a:fld id="{89489DBD-E81E-4916-9B7A-555E4E86B2BF}" type="slidenum">
              <a:rPr lang="en-CA" smtClean="0"/>
              <a:t>3</a:t>
            </a:fld>
            <a:endParaRPr lang="en-CA"/>
          </a:p>
        </p:txBody>
      </p:sp>
    </p:spTree>
    <p:extLst>
      <p:ext uri="{BB962C8B-B14F-4D97-AF65-F5344CB8AC3E}">
        <p14:creationId xmlns:p14="http://schemas.microsoft.com/office/powerpoint/2010/main" val="11708408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Image source: Microsoft 365 content library
Artificial Intelligence analyzes EHR data in real time to identify early signs of sepsis. Machine learning models detect patterns by integrating vital signs, lab results, demographics, and clinical trends. AI generates automated alerts for clinicians and continuously updates patient risk scores as new data is entered, improving early intervention and outcomes.</a:t>
            </a:r>
          </a:p>
        </p:txBody>
      </p:sp>
      <p:sp>
        <p:nvSpPr>
          <p:cNvPr id="4" name="Slide Number Placeholder 3"/>
          <p:cNvSpPr>
            <a:spLocks noGrp="1"/>
          </p:cNvSpPr>
          <p:nvPr>
            <p:ph type="sldNum" sz="quarter" idx="5"/>
          </p:nvPr>
        </p:nvSpPr>
        <p:spPr/>
        <p:txBody>
          <a:bodyPr/>
          <a:lstStyle/>
          <a:p>
            <a:fld id="{89489DBD-E81E-4916-9B7A-555E4E86B2BF}" type="slidenum">
              <a:rPr lang="en-CA" smtClean="0"/>
              <a:t>4</a:t>
            </a:fld>
            <a:endParaRPr lang="en-CA"/>
          </a:p>
        </p:txBody>
      </p:sp>
    </p:spTree>
    <p:extLst>
      <p:ext uri="{BB962C8B-B14F-4D97-AF65-F5344CB8AC3E}">
        <p14:creationId xmlns:p14="http://schemas.microsoft.com/office/powerpoint/2010/main" val="2091946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Image source: Microsoft 365 content library
TREWS, developed at Johns Hopkins, identifies sepsis risk and alerts clinicians early. Epic Sepsis Model, integrated in Epic EHR systems, provides automated sepsis alerts in hospitals. InSight Algorithm from UCSF uses machine learning to predict sepsis based on clinical data, aiding proactive intervention.</a:t>
            </a:r>
          </a:p>
        </p:txBody>
      </p:sp>
      <p:sp>
        <p:nvSpPr>
          <p:cNvPr id="4" name="Slide Number Placeholder 3"/>
          <p:cNvSpPr>
            <a:spLocks noGrp="1"/>
          </p:cNvSpPr>
          <p:nvPr>
            <p:ph type="sldNum" sz="quarter" idx="5"/>
          </p:nvPr>
        </p:nvSpPr>
        <p:spPr/>
        <p:txBody>
          <a:bodyPr/>
          <a:lstStyle/>
          <a:p>
            <a:fld id="{89489DBD-E81E-4916-9B7A-555E4E86B2BF}" type="slidenum">
              <a:rPr lang="en-CA" smtClean="0"/>
              <a:t>5</a:t>
            </a:fld>
            <a:endParaRPr lang="en-CA"/>
          </a:p>
        </p:txBody>
      </p:sp>
    </p:spTree>
    <p:extLst>
      <p:ext uri="{BB962C8B-B14F-4D97-AF65-F5344CB8AC3E}">
        <p14:creationId xmlns:p14="http://schemas.microsoft.com/office/powerpoint/2010/main" val="3588851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A52F7-B8A1-2962-D075-06EC6631F84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4A405047-3B09-3467-F4AF-F19379C838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F3B3FE39-CCC6-7672-5100-D6F15E52FCA9}"/>
              </a:ext>
            </a:extLst>
          </p:cNvPr>
          <p:cNvSpPr>
            <a:spLocks noGrp="1"/>
          </p:cNvSpPr>
          <p:nvPr>
            <p:ph type="dt" sz="half" idx="10"/>
          </p:nvPr>
        </p:nvSpPr>
        <p:spPr/>
        <p:txBody>
          <a:bodyPr/>
          <a:lstStyle/>
          <a:p>
            <a:fld id="{8458BDD0-AC7F-4695-ABD3-1A389FE611F8}" type="datetimeFigureOut">
              <a:rPr lang="en-CA" smtClean="0"/>
              <a:t>2026-03-09</a:t>
            </a:fld>
            <a:endParaRPr lang="en-CA"/>
          </a:p>
        </p:txBody>
      </p:sp>
      <p:sp>
        <p:nvSpPr>
          <p:cNvPr id="5" name="Footer Placeholder 4">
            <a:extLst>
              <a:ext uri="{FF2B5EF4-FFF2-40B4-BE49-F238E27FC236}">
                <a16:creationId xmlns:a16="http://schemas.microsoft.com/office/drawing/2014/main" id="{3FB495BD-E478-6388-D508-A0C54C51084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C724B3D-886B-AE2F-A64F-4E8140322B03}"/>
              </a:ext>
            </a:extLst>
          </p:cNvPr>
          <p:cNvSpPr>
            <a:spLocks noGrp="1"/>
          </p:cNvSpPr>
          <p:nvPr>
            <p:ph type="sldNum" sz="quarter" idx="12"/>
          </p:nvPr>
        </p:nvSpPr>
        <p:spPr/>
        <p:txBody>
          <a:bodyPr/>
          <a:lstStyle/>
          <a:p>
            <a:fld id="{AE784D82-46E0-4492-BA59-7F6563E64F12}" type="slidenum">
              <a:rPr lang="en-CA" smtClean="0"/>
              <a:t>‹#›</a:t>
            </a:fld>
            <a:endParaRPr lang="en-CA"/>
          </a:p>
        </p:txBody>
      </p:sp>
    </p:spTree>
    <p:extLst>
      <p:ext uri="{BB962C8B-B14F-4D97-AF65-F5344CB8AC3E}">
        <p14:creationId xmlns:p14="http://schemas.microsoft.com/office/powerpoint/2010/main" val="1169943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849ED-5B7F-A3C4-4FD3-4868D1EA1C84}"/>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37071ABE-C99D-C1F6-0CB7-5990E6E2EB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280DF12-31D2-0BE4-5781-A7C73D3D29AE}"/>
              </a:ext>
            </a:extLst>
          </p:cNvPr>
          <p:cNvSpPr>
            <a:spLocks noGrp="1"/>
          </p:cNvSpPr>
          <p:nvPr>
            <p:ph type="dt" sz="half" idx="10"/>
          </p:nvPr>
        </p:nvSpPr>
        <p:spPr/>
        <p:txBody>
          <a:bodyPr/>
          <a:lstStyle/>
          <a:p>
            <a:fld id="{8458BDD0-AC7F-4695-ABD3-1A389FE611F8}" type="datetimeFigureOut">
              <a:rPr lang="en-CA" smtClean="0"/>
              <a:t>2026-03-09</a:t>
            </a:fld>
            <a:endParaRPr lang="en-CA"/>
          </a:p>
        </p:txBody>
      </p:sp>
      <p:sp>
        <p:nvSpPr>
          <p:cNvPr id="5" name="Footer Placeholder 4">
            <a:extLst>
              <a:ext uri="{FF2B5EF4-FFF2-40B4-BE49-F238E27FC236}">
                <a16:creationId xmlns:a16="http://schemas.microsoft.com/office/drawing/2014/main" id="{10D81421-03DD-2BB6-A917-BB7918CB775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88623F8-46A6-6BFC-6C09-4A78488A8766}"/>
              </a:ext>
            </a:extLst>
          </p:cNvPr>
          <p:cNvSpPr>
            <a:spLocks noGrp="1"/>
          </p:cNvSpPr>
          <p:nvPr>
            <p:ph type="sldNum" sz="quarter" idx="12"/>
          </p:nvPr>
        </p:nvSpPr>
        <p:spPr/>
        <p:txBody>
          <a:bodyPr/>
          <a:lstStyle/>
          <a:p>
            <a:fld id="{AE784D82-46E0-4492-BA59-7F6563E64F12}" type="slidenum">
              <a:rPr lang="en-CA" smtClean="0"/>
              <a:t>‹#›</a:t>
            </a:fld>
            <a:endParaRPr lang="en-CA"/>
          </a:p>
        </p:txBody>
      </p:sp>
    </p:spTree>
    <p:extLst>
      <p:ext uri="{BB962C8B-B14F-4D97-AF65-F5344CB8AC3E}">
        <p14:creationId xmlns:p14="http://schemas.microsoft.com/office/powerpoint/2010/main" val="1184564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B48A9-D5C8-DB1B-0930-764586A90E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1FAD36E4-3373-99DD-8C75-FD696C33F3C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04C2C23-FB30-B8D8-90CE-8220B6CCAECA}"/>
              </a:ext>
            </a:extLst>
          </p:cNvPr>
          <p:cNvSpPr>
            <a:spLocks noGrp="1"/>
          </p:cNvSpPr>
          <p:nvPr>
            <p:ph type="dt" sz="half" idx="10"/>
          </p:nvPr>
        </p:nvSpPr>
        <p:spPr/>
        <p:txBody>
          <a:bodyPr/>
          <a:lstStyle/>
          <a:p>
            <a:fld id="{8458BDD0-AC7F-4695-ABD3-1A389FE611F8}" type="datetimeFigureOut">
              <a:rPr lang="en-CA" smtClean="0"/>
              <a:t>2026-03-09</a:t>
            </a:fld>
            <a:endParaRPr lang="en-CA"/>
          </a:p>
        </p:txBody>
      </p:sp>
      <p:sp>
        <p:nvSpPr>
          <p:cNvPr id="5" name="Footer Placeholder 4">
            <a:extLst>
              <a:ext uri="{FF2B5EF4-FFF2-40B4-BE49-F238E27FC236}">
                <a16:creationId xmlns:a16="http://schemas.microsoft.com/office/drawing/2014/main" id="{A2515FEA-7E13-5FD0-482A-60076F05D76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04C64E0-9575-8D62-93DE-34D42CC63832}"/>
              </a:ext>
            </a:extLst>
          </p:cNvPr>
          <p:cNvSpPr>
            <a:spLocks noGrp="1"/>
          </p:cNvSpPr>
          <p:nvPr>
            <p:ph type="sldNum" sz="quarter" idx="12"/>
          </p:nvPr>
        </p:nvSpPr>
        <p:spPr/>
        <p:txBody>
          <a:bodyPr/>
          <a:lstStyle/>
          <a:p>
            <a:fld id="{AE784D82-46E0-4492-BA59-7F6563E64F12}" type="slidenum">
              <a:rPr lang="en-CA" smtClean="0"/>
              <a:t>‹#›</a:t>
            </a:fld>
            <a:endParaRPr lang="en-CA"/>
          </a:p>
        </p:txBody>
      </p:sp>
    </p:spTree>
    <p:extLst>
      <p:ext uri="{BB962C8B-B14F-4D97-AF65-F5344CB8AC3E}">
        <p14:creationId xmlns:p14="http://schemas.microsoft.com/office/powerpoint/2010/main" val="2958901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EE957-9021-2861-5919-83A9404C6CF5}"/>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B2EF130E-9923-F6DF-84A7-1E7179BF1F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F2AB0C31-AE62-43E8-4D2B-5950467566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7440E6AE-C49E-2E95-5708-282707AC6AA3}"/>
              </a:ext>
            </a:extLst>
          </p:cNvPr>
          <p:cNvSpPr>
            <a:spLocks noGrp="1"/>
          </p:cNvSpPr>
          <p:nvPr>
            <p:ph type="dt" sz="half" idx="10"/>
          </p:nvPr>
        </p:nvSpPr>
        <p:spPr/>
        <p:txBody>
          <a:bodyPr/>
          <a:lstStyle/>
          <a:p>
            <a:fld id="{8458BDD0-AC7F-4695-ABD3-1A389FE611F8}" type="datetimeFigureOut">
              <a:rPr lang="en-CA" smtClean="0"/>
              <a:t>2026-03-09</a:t>
            </a:fld>
            <a:endParaRPr lang="en-CA"/>
          </a:p>
        </p:txBody>
      </p:sp>
      <p:sp>
        <p:nvSpPr>
          <p:cNvPr id="6" name="Footer Placeholder 5">
            <a:extLst>
              <a:ext uri="{FF2B5EF4-FFF2-40B4-BE49-F238E27FC236}">
                <a16:creationId xmlns:a16="http://schemas.microsoft.com/office/drawing/2014/main" id="{FA70A27A-3E0B-7674-1DA1-221F443F8B02}"/>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7BA189E2-BE57-CC6A-24F5-2EADCABAA1F2}"/>
              </a:ext>
            </a:extLst>
          </p:cNvPr>
          <p:cNvSpPr>
            <a:spLocks noGrp="1"/>
          </p:cNvSpPr>
          <p:nvPr>
            <p:ph type="sldNum" sz="quarter" idx="12"/>
          </p:nvPr>
        </p:nvSpPr>
        <p:spPr/>
        <p:txBody>
          <a:bodyPr/>
          <a:lstStyle/>
          <a:p>
            <a:fld id="{AE784D82-46E0-4492-BA59-7F6563E64F12}" type="slidenum">
              <a:rPr lang="en-CA" smtClean="0"/>
              <a:t>‹#›</a:t>
            </a:fld>
            <a:endParaRPr lang="en-CA"/>
          </a:p>
        </p:txBody>
      </p:sp>
    </p:spTree>
    <p:extLst>
      <p:ext uri="{BB962C8B-B14F-4D97-AF65-F5344CB8AC3E}">
        <p14:creationId xmlns:p14="http://schemas.microsoft.com/office/powerpoint/2010/main" val="708434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21369-0AA5-138F-AFAF-0BBBD843ACED}"/>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01347667-A7A5-AA99-09F0-AFC723F46E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3BD708B-D063-8FBE-5943-DC5637A24A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A214B064-260A-9631-0DA2-670003C58E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C93AAC2-0DFE-DC81-ADED-6633A7EB306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F40241FE-1AF3-8615-6C14-D5F4623B6EBF}"/>
              </a:ext>
            </a:extLst>
          </p:cNvPr>
          <p:cNvSpPr>
            <a:spLocks noGrp="1"/>
          </p:cNvSpPr>
          <p:nvPr>
            <p:ph type="dt" sz="half" idx="10"/>
          </p:nvPr>
        </p:nvSpPr>
        <p:spPr/>
        <p:txBody>
          <a:bodyPr/>
          <a:lstStyle/>
          <a:p>
            <a:fld id="{8458BDD0-AC7F-4695-ABD3-1A389FE611F8}" type="datetimeFigureOut">
              <a:rPr lang="en-CA" smtClean="0"/>
              <a:t>2026-03-09</a:t>
            </a:fld>
            <a:endParaRPr lang="en-CA"/>
          </a:p>
        </p:txBody>
      </p:sp>
      <p:sp>
        <p:nvSpPr>
          <p:cNvPr id="8" name="Footer Placeholder 7">
            <a:extLst>
              <a:ext uri="{FF2B5EF4-FFF2-40B4-BE49-F238E27FC236}">
                <a16:creationId xmlns:a16="http://schemas.microsoft.com/office/drawing/2014/main" id="{C38C21B8-FAC0-70F6-5918-10B98F5D961F}"/>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FBE97B11-6046-56F6-8C01-1EC18E4CD7F8}"/>
              </a:ext>
            </a:extLst>
          </p:cNvPr>
          <p:cNvSpPr>
            <a:spLocks noGrp="1"/>
          </p:cNvSpPr>
          <p:nvPr>
            <p:ph type="sldNum" sz="quarter" idx="12"/>
          </p:nvPr>
        </p:nvSpPr>
        <p:spPr/>
        <p:txBody>
          <a:bodyPr/>
          <a:lstStyle/>
          <a:p>
            <a:fld id="{AE784D82-46E0-4492-BA59-7F6563E64F12}" type="slidenum">
              <a:rPr lang="en-CA" smtClean="0"/>
              <a:t>‹#›</a:t>
            </a:fld>
            <a:endParaRPr lang="en-CA"/>
          </a:p>
        </p:txBody>
      </p:sp>
    </p:spTree>
    <p:extLst>
      <p:ext uri="{BB962C8B-B14F-4D97-AF65-F5344CB8AC3E}">
        <p14:creationId xmlns:p14="http://schemas.microsoft.com/office/powerpoint/2010/main" val="18427422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AED6E-6096-29D2-7FFA-D192BBDE1EE9}"/>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F276A4D9-55B9-736B-54CC-A2E24FED60BF}"/>
              </a:ext>
            </a:extLst>
          </p:cNvPr>
          <p:cNvSpPr>
            <a:spLocks noGrp="1"/>
          </p:cNvSpPr>
          <p:nvPr>
            <p:ph type="dt" sz="half" idx="10"/>
          </p:nvPr>
        </p:nvSpPr>
        <p:spPr/>
        <p:txBody>
          <a:bodyPr/>
          <a:lstStyle/>
          <a:p>
            <a:fld id="{8458BDD0-AC7F-4695-ABD3-1A389FE611F8}" type="datetimeFigureOut">
              <a:rPr lang="en-CA" smtClean="0"/>
              <a:t>2026-03-09</a:t>
            </a:fld>
            <a:endParaRPr lang="en-CA"/>
          </a:p>
        </p:txBody>
      </p:sp>
      <p:sp>
        <p:nvSpPr>
          <p:cNvPr id="4" name="Footer Placeholder 3">
            <a:extLst>
              <a:ext uri="{FF2B5EF4-FFF2-40B4-BE49-F238E27FC236}">
                <a16:creationId xmlns:a16="http://schemas.microsoft.com/office/drawing/2014/main" id="{0F598ADB-FFFC-E2DF-E23C-5A92D9FF7A89}"/>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0C4F8E89-E490-1CE6-F003-87AD6C477FAC}"/>
              </a:ext>
            </a:extLst>
          </p:cNvPr>
          <p:cNvSpPr>
            <a:spLocks noGrp="1"/>
          </p:cNvSpPr>
          <p:nvPr>
            <p:ph type="sldNum" sz="quarter" idx="12"/>
          </p:nvPr>
        </p:nvSpPr>
        <p:spPr/>
        <p:txBody>
          <a:bodyPr/>
          <a:lstStyle/>
          <a:p>
            <a:fld id="{AE784D82-46E0-4492-BA59-7F6563E64F12}" type="slidenum">
              <a:rPr lang="en-CA" smtClean="0"/>
              <a:t>‹#›</a:t>
            </a:fld>
            <a:endParaRPr lang="en-CA"/>
          </a:p>
        </p:txBody>
      </p:sp>
    </p:spTree>
    <p:extLst>
      <p:ext uri="{BB962C8B-B14F-4D97-AF65-F5344CB8AC3E}">
        <p14:creationId xmlns:p14="http://schemas.microsoft.com/office/powerpoint/2010/main" val="2206635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8A0520-46F0-0F90-DBAD-96F834D71177}"/>
              </a:ext>
            </a:extLst>
          </p:cNvPr>
          <p:cNvSpPr>
            <a:spLocks noGrp="1"/>
          </p:cNvSpPr>
          <p:nvPr>
            <p:ph type="dt" sz="half" idx="10"/>
          </p:nvPr>
        </p:nvSpPr>
        <p:spPr/>
        <p:txBody>
          <a:bodyPr/>
          <a:lstStyle/>
          <a:p>
            <a:fld id="{8458BDD0-AC7F-4695-ABD3-1A389FE611F8}" type="datetimeFigureOut">
              <a:rPr lang="en-CA" smtClean="0"/>
              <a:t>2026-03-09</a:t>
            </a:fld>
            <a:endParaRPr lang="en-CA"/>
          </a:p>
        </p:txBody>
      </p:sp>
      <p:sp>
        <p:nvSpPr>
          <p:cNvPr id="3" name="Footer Placeholder 2">
            <a:extLst>
              <a:ext uri="{FF2B5EF4-FFF2-40B4-BE49-F238E27FC236}">
                <a16:creationId xmlns:a16="http://schemas.microsoft.com/office/drawing/2014/main" id="{33E7E419-BDC9-F260-66FF-17B44286F077}"/>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2A32C734-EB9E-99E1-84CA-D9B131668B84}"/>
              </a:ext>
            </a:extLst>
          </p:cNvPr>
          <p:cNvSpPr>
            <a:spLocks noGrp="1"/>
          </p:cNvSpPr>
          <p:nvPr>
            <p:ph type="sldNum" sz="quarter" idx="12"/>
          </p:nvPr>
        </p:nvSpPr>
        <p:spPr/>
        <p:txBody>
          <a:bodyPr/>
          <a:lstStyle/>
          <a:p>
            <a:fld id="{AE784D82-46E0-4492-BA59-7F6563E64F12}" type="slidenum">
              <a:rPr lang="en-CA" smtClean="0"/>
              <a:t>‹#›</a:t>
            </a:fld>
            <a:endParaRPr lang="en-CA"/>
          </a:p>
        </p:txBody>
      </p:sp>
    </p:spTree>
    <p:extLst>
      <p:ext uri="{BB962C8B-B14F-4D97-AF65-F5344CB8AC3E}">
        <p14:creationId xmlns:p14="http://schemas.microsoft.com/office/powerpoint/2010/main" val="1135032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1D280-3058-E4FE-FD63-7BC33854A6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D900EFC8-FF3E-84F1-081D-8013D5A341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63DA0A25-E6E7-25D0-066B-5D96CB48A2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5F1D9B-BA20-8202-ADDA-4F76E9D70DED}"/>
              </a:ext>
            </a:extLst>
          </p:cNvPr>
          <p:cNvSpPr>
            <a:spLocks noGrp="1"/>
          </p:cNvSpPr>
          <p:nvPr>
            <p:ph type="dt" sz="half" idx="10"/>
          </p:nvPr>
        </p:nvSpPr>
        <p:spPr/>
        <p:txBody>
          <a:bodyPr/>
          <a:lstStyle/>
          <a:p>
            <a:fld id="{8458BDD0-AC7F-4695-ABD3-1A389FE611F8}" type="datetimeFigureOut">
              <a:rPr lang="en-CA" smtClean="0"/>
              <a:t>2026-03-09</a:t>
            </a:fld>
            <a:endParaRPr lang="en-CA"/>
          </a:p>
        </p:txBody>
      </p:sp>
      <p:sp>
        <p:nvSpPr>
          <p:cNvPr id="6" name="Footer Placeholder 5">
            <a:extLst>
              <a:ext uri="{FF2B5EF4-FFF2-40B4-BE49-F238E27FC236}">
                <a16:creationId xmlns:a16="http://schemas.microsoft.com/office/drawing/2014/main" id="{DC13BCBC-9793-B42F-D8E6-71CF35DDF7A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4F4E494-D769-2249-51D3-6E6884BDCDD5}"/>
              </a:ext>
            </a:extLst>
          </p:cNvPr>
          <p:cNvSpPr>
            <a:spLocks noGrp="1"/>
          </p:cNvSpPr>
          <p:nvPr>
            <p:ph type="sldNum" sz="quarter" idx="12"/>
          </p:nvPr>
        </p:nvSpPr>
        <p:spPr/>
        <p:txBody>
          <a:bodyPr/>
          <a:lstStyle/>
          <a:p>
            <a:fld id="{AE784D82-46E0-4492-BA59-7F6563E64F12}" type="slidenum">
              <a:rPr lang="en-CA" smtClean="0"/>
              <a:t>‹#›</a:t>
            </a:fld>
            <a:endParaRPr lang="en-CA"/>
          </a:p>
        </p:txBody>
      </p:sp>
    </p:spTree>
    <p:extLst>
      <p:ext uri="{BB962C8B-B14F-4D97-AF65-F5344CB8AC3E}">
        <p14:creationId xmlns:p14="http://schemas.microsoft.com/office/powerpoint/2010/main" val="2867772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E15E0-6806-53D9-84BC-1E6A680205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2085F29C-1610-7517-7689-37D91C1D9A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6C257270-4BCE-D74C-245F-A92550475B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DA9A4A-4B19-F95B-E7AB-EBC5A38FE3D6}"/>
              </a:ext>
            </a:extLst>
          </p:cNvPr>
          <p:cNvSpPr>
            <a:spLocks noGrp="1"/>
          </p:cNvSpPr>
          <p:nvPr>
            <p:ph type="dt" sz="half" idx="10"/>
          </p:nvPr>
        </p:nvSpPr>
        <p:spPr/>
        <p:txBody>
          <a:bodyPr/>
          <a:lstStyle/>
          <a:p>
            <a:fld id="{8458BDD0-AC7F-4695-ABD3-1A389FE611F8}" type="datetimeFigureOut">
              <a:rPr lang="en-CA" smtClean="0"/>
              <a:t>2026-03-09</a:t>
            </a:fld>
            <a:endParaRPr lang="en-CA"/>
          </a:p>
        </p:txBody>
      </p:sp>
      <p:sp>
        <p:nvSpPr>
          <p:cNvPr id="6" name="Footer Placeholder 5">
            <a:extLst>
              <a:ext uri="{FF2B5EF4-FFF2-40B4-BE49-F238E27FC236}">
                <a16:creationId xmlns:a16="http://schemas.microsoft.com/office/drawing/2014/main" id="{6AB25D8F-4CE1-9776-ADD7-CEA37876FD81}"/>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50D87352-FD3A-B0B8-6D8B-E32A9CE036CA}"/>
              </a:ext>
            </a:extLst>
          </p:cNvPr>
          <p:cNvSpPr>
            <a:spLocks noGrp="1"/>
          </p:cNvSpPr>
          <p:nvPr>
            <p:ph type="sldNum" sz="quarter" idx="12"/>
          </p:nvPr>
        </p:nvSpPr>
        <p:spPr/>
        <p:txBody>
          <a:bodyPr/>
          <a:lstStyle/>
          <a:p>
            <a:fld id="{AE784D82-46E0-4492-BA59-7F6563E64F12}" type="slidenum">
              <a:rPr lang="en-CA" smtClean="0"/>
              <a:t>‹#›</a:t>
            </a:fld>
            <a:endParaRPr lang="en-CA"/>
          </a:p>
        </p:txBody>
      </p:sp>
    </p:spTree>
    <p:extLst>
      <p:ext uri="{BB962C8B-B14F-4D97-AF65-F5344CB8AC3E}">
        <p14:creationId xmlns:p14="http://schemas.microsoft.com/office/powerpoint/2010/main" val="38421453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31F1E-AC6D-B70F-EA96-F2A9B10A5597}"/>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4DDFB474-3F18-9FFE-C7C3-CFDB7192D43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9500F3D-8B89-5EB6-C7D5-BB90DDAD70A1}"/>
              </a:ext>
            </a:extLst>
          </p:cNvPr>
          <p:cNvSpPr>
            <a:spLocks noGrp="1"/>
          </p:cNvSpPr>
          <p:nvPr>
            <p:ph type="dt" sz="half" idx="10"/>
          </p:nvPr>
        </p:nvSpPr>
        <p:spPr/>
        <p:txBody>
          <a:bodyPr/>
          <a:lstStyle/>
          <a:p>
            <a:fld id="{8458BDD0-AC7F-4695-ABD3-1A389FE611F8}" type="datetimeFigureOut">
              <a:rPr lang="en-CA" smtClean="0"/>
              <a:t>2026-03-09</a:t>
            </a:fld>
            <a:endParaRPr lang="en-CA"/>
          </a:p>
        </p:txBody>
      </p:sp>
      <p:sp>
        <p:nvSpPr>
          <p:cNvPr id="5" name="Footer Placeholder 4">
            <a:extLst>
              <a:ext uri="{FF2B5EF4-FFF2-40B4-BE49-F238E27FC236}">
                <a16:creationId xmlns:a16="http://schemas.microsoft.com/office/drawing/2014/main" id="{351BE204-E34E-44E8-5566-82E4E439993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00B4C99-DC5C-E6E6-E0DF-FB64C0098847}"/>
              </a:ext>
            </a:extLst>
          </p:cNvPr>
          <p:cNvSpPr>
            <a:spLocks noGrp="1"/>
          </p:cNvSpPr>
          <p:nvPr>
            <p:ph type="sldNum" sz="quarter" idx="12"/>
          </p:nvPr>
        </p:nvSpPr>
        <p:spPr/>
        <p:txBody>
          <a:bodyPr/>
          <a:lstStyle/>
          <a:p>
            <a:fld id="{AE784D82-46E0-4492-BA59-7F6563E64F12}" type="slidenum">
              <a:rPr lang="en-CA" smtClean="0"/>
              <a:t>‹#›</a:t>
            </a:fld>
            <a:endParaRPr lang="en-CA"/>
          </a:p>
        </p:txBody>
      </p:sp>
    </p:spTree>
    <p:extLst>
      <p:ext uri="{BB962C8B-B14F-4D97-AF65-F5344CB8AC3E}">
        <p14:creationId xmlns:p14="http://schemas.microsoft.com/office/powerpoint/2010/main" val="3830826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513C94-AA0B-5CFF-9EB0-9DD79FF752C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2DC30EE1-B06F-43F5-7B83-19E5C558CC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4E53283-AB90-AF37-35DF-62E0942F130F}"/>
              </a:ext>
            </a:extLst>
          </p:cNvPr>
          <p:cNvSpPr>
            <a:spLocks noGrp="1"/>
          </p:cNvSpPr>
          <p:nvPr>
            <p:ph type="dt" sz="half" idx="10"/>
          </p:nvPr>
        </p:nvSpPr>
        <p:spPr/>
        <p:txBody>
          <a:bodyPr/>
          <a:lstStyle/>
          <a:p>
            <a:fld id="{8458BDD0-AC7F-4695-ABD3-1A389FE611F8}" type="datetimeFigureOut">
              <a:rPr lang="en-CA" smtClean="0"/>
              <a:t>2026-03-09</a:t>
            </a:fld>
            <a:endParaRPr lang="en-CA"/>
          </a:p>
        </p:txBody>
      </p:sp>
      <p:sp>
        <p:nvSpPr>
          <p:cNvPr id="5" name="Footer Placeholder 4">
            <a:extLst>
              <a:ext uri="{FF2B5EF4-FFF2-40B4-BE49-F238E27FC236}">
                <a16:creationId xmlns:a16="http://schemas.microsoft.com/office/drawing/2014/main" id="{AA85AD41-F678-893C-DFB3-07466DCBCC4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140295E-C658-49A3-F3A1-9C85B9610E4A}"/>
              </a:ext>
            </a:extLst>
          </p:cNvPr>
          <p:cNvSpPr>
            <a:spLocks noGrp="1"/>
          </p:cNvSpPr>
          <p:nvPr>
            <p:ph type="sldNum" sz="quarter" idx="12"/>
          </p:nvPr>
        </p:nvSpPr>
        <p:spPr/>
        <p:txBody>
          <a:bodyPr/>
          <a:lstStyle/>
          <a:p>
            <a:fld id="{AE784D82-46E0-4492-BA59-7F6563E64F12}" type="slidenum">
              <a:rPr lang="en-CA" smtClean="0"/>
              <a:t>‹#›</a:t>
            </a:fld>
            <a:endParaRPr lang="en-CA"/>
          </a:p>
        </p:txBody>
      </p:sp>
    </p:spTree>
    <p:extLst>
      <p:ext uri="{BB962C8B-B14F-4D97-AF65-F5344CB8AC3E}">
        <p14:creationId xmlns:p14="http://schemas.microsoft.com/office/powerpoint/2010/main" val="3043106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C9FFB0-1BDA-3908-B29A-AC5ECF528D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B161D784-0031-E153-CB8D-6C1BF075FF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A516EE0-A3F5-C9AE-CD74-03CA81FB70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58BDD0-AC7F-4695-ABD3-1A389FE611F8}" type="datetimeFigureOut">
              <a:rPr lang="en-CA" smtClean="0"/>
              <a:t>2026-03-09</a:t>
            </a:fld>
            <a:endParaRPr lang="en-CA"/>
          </a:p>
        </p:txBody>
      </p:sp>
      <p:sp>
        <p:nvSpPr>
          <p:cNvPr id="5" name="Footer Placeholder 4">
            <a:extLst>
              <a:ext uri="{FF2B5EF4-FFF2-40B4-BE49-F238E27FC236}">
                <a16:creationId xmlns:a16="http://schemas.microsoft.com/office/drawing/2014/main" id="{7F9E110F-0ADC-5DE0-7DAB-610EF5F289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22308D10-9558-2C43-9C7A-F533FF95E3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E784D82-46E0-4492-BA59-7F6563E64F12}" type="slidenum">
              <a:rPr lang="en-CA" smtClean="0"/>
              <a:t>‹#›</a:t>
            </a:fld>
            <a:endParaRPr lang="en-CA"/>
          </a:p>
        </p:txBody>
      </p:sp>
    </p:spTree>
    <p:extLst>
      <p:ext uri="{BB962C8B-B14F-4D97-AF65-F5344CB8AC3E}">
        <p14:creationId xmlns:p14="http://schemas.microsoft.com/office/powerpoint/2010/main" val="6524437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5666830-9A19-4E01-8505-D6C7F9AC5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Stethoscope">
            <a:extLst>
              <a:ext uri="{FF2B5EF4-FFF2-40B4-BE49-F238E27FC236}">
                <a16:creationId xmlns:a16="http://schemas.microsoft.com/office/drawing/2014/main" id="{34D91597-6AA6-1590-3EE9-D15C74F44C5C}"/>
              </a:ext>
            </a:extLst>
          </p:cNvPr>
          <p:cNvPicPr>
            <a:picLocks noChangeAspect="1"/>
          </p:cNvPicPr>
          <p:nvPr/>
        </p:nvPicPr>
        <p:blipFill>
          <a:blip r:embed="rId2">
            <a:extLst>
              <a:ext uri="{28A0092B-C50C-407E-A947-70E740481C1C}">
                <a14:useLocalDpi xmlns:a14="http://schemas.microsoft.com/office/drawing/2010/main" val="0"/>
              </a:ext>
            </a:extLst>
          </a:blip>
          <a:srcRect r="21337" b="-1"/>
          <a:stretch>
            <a:fillRect/>
          </a:stretch>
        </p:blipFill>
        <p:spPr>
          <a:xfrm>
            <a:off x="4110127" y="10"/>
            <a:ext cx="8081873" cy="6857990"/>
          </a:xfrm>
          <a:custGeom>
            <a:avLst/>
            <a:gdLst/>
            <a:ahLst/>
            <a:cxnLst/>
            <a:rect l="l" t="t" r="r" b="b"/>
            <a:pathLst>
              <a:path w="8081873" h="6858000">
                <a:moveTo>
                  <a:pt x="0" y="0"/>
                </a:moveTo>
                <a:lnTo>
                  <a:pt x="8081873" y="0"/>
                </a:lnTo>
                <a:lnTo>
                  <a:pt x="8081873" y="6858000"/>
                </a:lnTo>
                <a:lnTo>
                  <a:pt x="0" y="6858000"/>
                </a:lnTo>
                <a:lnTo>
                  <a:pt x="68897" y="6734633"/>
                </a:lnTo>
                <a:cubicBezTo>
                  <a:pt x="558802" y="5812845"/>
                  <a:pt x="848920" y="4668597"/>
                  <a:pt x="848920" y="3429000"/>
                </a:cubicBezTo>
                <a:cubicBezTo>
                  <a:pt x="848920" y="2189404"/>
                  <a:pt x="558802" y="1045156"/>
                  <a:pt x="68897" y="123368"/>
                </a:cubicBezTo>
                <a:close/>
              </a:path>
            </a:pathLst>
          </a:custGeom>
        </p:spPr>
      </p:pic>
      <p:sp useBgFill="1">
        <p:nvSpPr>
          <p:cNvPr id="12" name="Freeform: Shape 11">
            <a:extLst>
              <a:ext uri="{FF2B5EF4-FFF2-40B4-BE49-F238E27FC236}">
                <a16:creationId xmlns:a16="http://schemas.microsoft.com/office/drawing/2014/main" id="{AE9FC877-7FB6-4D22-9988-35420644E2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E41809D1-F12E-46BB-B804-5F209D325E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B8F97A4-1FB7-061F-4047-7CAE10F5B696}"/>
              </a:ext>
            </a:extLst>
          </p:cNvPr>
          <p:cNvSpPr>
            <a:spLocks noGrp="1"/>
          </p:cNvSpPr>
          <p:nvPr>
            <p:ph type="ctrTitle"/>
          </p:nvPr>
        </p:nvSpPr>
        <p:spPr>
          <a:xfrm>
            <a:off x="477981" y="1122363"/>
            <a:ext cx="4023360" cy="3204134"/>
          </a:xfrm>
        </p:spPr>
        <p:txBody>
          <a:bodyPr anchor="b">
            <a:normAutofit/>
          </a:bodyPr>
          <a:lstStyle/>
          <a:p>
            <a:pPr algn="l"/>
            <a:r>
              <a:rPr lang="en-US" sz="4400"/>
              <a:t>Artificial Intelligence in Healthcare: Early Detection of Sepsis</a:t>
            </a:r>
            <a:endParaRPr lang="en-CA" sz="4400"/>
          </a:p>
        </p:txBody>
      </p:sp>
      <p:sp>
        <p:nvSpPr>
          <p:cNvPr id="3" name="Subtitle 2">
            <a:extLst>
              <a:ext uri="{FF2B5EF4-FFF2-40B4-BE49-F238E27FC236}">
                <a16:creationId xmlns:a16="http://schemas.microsoft.com/office/drawing/2014/main" id="{66DA631B-BB02-6C06-16ED-6BEAA054672A}"/>
              </a:ext>
            </a:extLst>
          </p:cNvPr>
          <p:cNvSpPr>
            <a:spLocks noGrp="1"/>
          </p:cNvSpPr>
          <p:nvPr>
            <p:ph type="subTitle" idx="1"/>
          </p:nvPr>
        </p:nvSpPr>
        <p:spPr>
          <a:xfrm>
            <a:off x="477981" y="4872922"/>
            <a:ext cx="3933306" cy="1208141"/>
          </a:xfrm>
        </p:spPr>
        <p:txBody>
          <a:bodyPr>
            <a:normAutofit/>
          </a:bodyPr>
          <a:lstStyle/>
          <a:p>
            <a:pPr algn="l"/>
            <a:r>
              <a:rPr lang="en-US" sz="2000"/>
              <a:t>Improving Clinical Outcomes Through Predictive Analytics</a:t>
            </a:r>
            <a:endParaRPr lang="en-CA" sz="2000"/>
          </a:p>
        </p:txBody>
      </p:sp>
      <p:sp>
        <p:nvSpPr>
          <p:cNvPr id="16" name="Rectangle 15">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792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A01E9DBA-438F-007C-30EB-26E12A0B0B96}"/>
              </a:ext>
            </a:extLst>
          </p:cNvPr>
          <p:cNvSpPr>
            <a:spLocks noGrp="1"/>
          </p:cNvSpPr>
          <p:nvPr>
            <p:ph type="title"/>
          </p:nvPr>
        </p:nvSpPr>
        <p:spPr>
          <a:xfrm>
            <a:off x="838200" y="365125"/>
            <a:ext cx="5393361" cy="1325563"/>
          </a:xfrm>
        </p:spPr>
        <p:txBody>
          <a:bodyPr vert="horz" lIns="91440" tIns="45720" rIns="91440" bIns="45720" rtlCol="0" anchor="ctr">
            <a:normAutofit/>
          </a:bodyPr>
          <a:lstStyle/>
          <a:p>
            <a:r>
              <a:rPr lang="en-US" b="1"/>
              <a:t>Understanding Sepsis</a:t>
            </a:r>
          </a:p>
        </p:txBody>
      </p:sp>
      <p:sp>
        <p:nvSpPr>
          <p:cNvPr id="4" name="Content Placeholder 3">
            <a:extLst>
              <a:ext uri="{FF2B5EF4-FFF2-40B4-BE49-F238E27FC236}">
                <a16:creationId xmlns:a16="http://schemas.microsoft.com/office/drawing/2014/main" id="{9687FF86-FC73-CC2B-080B-C054F3E5C95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8200" y="1825625"/>
            <a:ext cx="5393361" cy="4351338"/>
          </a:xfrm>
        </p:spPr>
        <p:txBody>
          <a:bodyPr>
            <a:normAutofit/>
          </a:bodyPr>
          <a:lstStyle/>
          <a:p>
            <a:pPr marL="0" indent="0">
              <a:spcBef>
                <a:spcPts val="2500"/>
              </a:spcBef>
              <a:buFont typeface="Arial" panose="020B0604020202020204" pitchFamily="34" charset="0"/>
              <a:buNone/>
            </a:pPr>
            <a:r>
              <a:rPr lang="en-US" sz="1400" b="1"/>
              <a:t>What Is Sepsis</a:t>
            </a:r>
          </a:p>
          <a:p>
            <a:pPr marL="0" lvl="1" indent="0">
              <a:buFont typeface="Arial" panose="020B0604020202020204" pitchFamily="34" charset="0"/>
              <a:buNone/>
            </a:pPr>
            <a:r>
              <a:rPr lang="en-US" sz="1400"/>
              <a:t>Sepsis is a severe condition resulting from the body's abnormal response to infection, leading to life-threatening complications.</a:t>
            </a:r>
          </a:p>
          <a:p>
            <a:pPr marL="0" indent="0">
              <a:spcBef>
                <a:spcPts val="2500"/>
              </a:spcBef>
              <a:buFont typeface="Arial" panose="020B0604020202020204" pitchFamily="34" charset="0"/>
              <a:buNone/>
            </a:pPr>
            <a:r>
              <a:rPr lang="en-US" sz="1400" b="1"/>
              <a:t>Rapid Progression and Symptoms</a:t>
            </a:r>
          </a:p>
          <a:p>
            <a:pPr marL="0" lvl="1" indent="0">
              <a:buFont typeface="Arial" panose="020B0604020202020204" pitchFamily="34" charset="0"/>
              <a:buNone/>
            </a:pPr>
            <a:r>
              <a:rPr lang="en-US" sz="1400"/>
              <a:t>Sepsis symptoms are vague and develop quickly, often making early recognition challenging in busy clinical environments.</a:t>
            </a:r>
          </a:p>
          <a:p>
            <a:pPr marL="0" indent="0">
              <a:spcBef>
                <a:spcPts val="2500"/>
              </a:spcBef>
              <a:buFont typeface="Arial" panose="020B0604020202020204" pitchFamily="34" charset="0"/>
              <a:buNone/>
            </a:pPr>
            <a:r>
              <a:rPr lang="en-US" sz="1400" b="1"/>
              <a:t>Importance of Early Treatment</a:t>
            </a:r>
          </a:p>
          <a:p>
            <a:pPr marL="0" lvl="1" indent="0">
              <a:buFont typeface="Arial" panose="020B0604020202020204" pitchFamily="34" charset="0"/>
              <a:buNone/>
            </a:pPr>
            <a:r>
              <a:rPr lang="en-US" sz="1400"/>
              <a:t>Immediate intervention with antibiotics is crucial for survival, as untreated sepsis swiftly leads to organ failure and death.</a:t>
            </a:r>
          </a:p>
        </p:txBody>
      </p:sp>
      <p:pic>
        <p:nvPicPr>
          <p:cNvPr id="5" name="Content Placeholder 4" descr="Pipette putting a sample on a petri dish">
            <a:extLst>
              <a:ext uri="{FF2B5EF4-FFF2-40B4-BE49-F238E27FC236}">
                <a16:creationId xmlns:a16="http://schemas.microsoft.com/office/drawing/2014/main" id="{7C27A671-1479-462E-B5EB-1F093C3D034E}"/>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l="25117" r="8132" b="-2"/>
          <a:stretch>
            <a:fillRect/>
          </a:stretch>
        </p:blipFill>
        <p:spPr>
          <a:xfrm>
            <a:off x="6940640" y="1562089"/>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17"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9"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679299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Doctor writing on tablet with pen">
            <a:extLst>
              <a:ext uri="{FF2B5EF4-FFF2-40B4-BE49-F238E27FC236}">
                <a16:creationId xmlns:a16="http://schemas.microsoft.com/office/drawing/2014/main" id="{6F02BF53-81C9-4FF4-9134-4C7B063F5283}"/>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t="9443" b="13992"/>
          <a:stretch>
            <a:fillRect/>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2" name="Title 1">
            <a:extLst>
              <a:ext uri="{FF2B5EF4-FFF2-40B4-BE49-F238E27FC236}">
                <a16:creationId xmlns:a16="http://schemas.microsoft.com/office/drawing/2014/main" id="{3B50DCA3-CE69-37B1-9FAB-B07B9019C0AC}"/>
              </a:ext>
            </a:extLst>
          </p:cNvPr>
          <p:cNvSpPr>
            <a:spLocks noGrp="1"/>
          </p:cNvSpPr>
          <p:nvPr>
            <p:ph type="title"/>
          </p:nvPr>
        </p:nvSpPr>
        <p:spPr>
          <a:xfrm>
            <a:off x="481014" y="3752850"/>
            <a:ext cx="3198358" cy="2016580"/>
          </a:xfrm>
        </p:spPr>
        <p:txBody>
          <a:bodyPr vert="horz" lIns="91440" tIns="45720" rIns="91440" bIns="45720" rtlCol="0" anchor="ctr">
            <a:normAutofit/>
          </a:bodyPr>
          <a:lstStyle/>
          <a:p>
            <a:r>
              <a:rPr lang="en-US" sz="3600" b="1" dirty="0"/>
              <a:t>Importance of Early Detection</a:t>
            </a:r>
          </a:p>
        </p:txBody>
      </p:sp>
      <p:sp>
        <p:nvSpPr>
          <p:cNvPr id="4" name="Content Placeholder 3">
            <a:extLst>
              <a:ext uri="{FF2B5EF4-FFF2-40B4-BE49-F238E27FC236}">
                <a16:creationId xmlns:a16="http://schemas.microsoft.com/office/drawing/2014/main" id="{41C7FFE2-E8DC-48EC-FEF2-168E9C4B9D8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23982" y="3581400"/>
            <a:ext cx="7837389" cy="3276590"/>
          </a:xfrm>
        </p:spPr>
        <p:txBody>
          <a:bodyPr>
            <a:normAutofit/>
          </a:bodyPr>
          <a:lstStyle/>
          <a:p>
            <a:pPr marL="0" indent="0">
              <a:spcBef>
                <a:spcPts val="2500"/>
              </a:spcBef>
              <a:buFont typeface="Arial" panose="020B0604020202020204" pitchFamily="34" charset="0"/>
              <a:buNone/>
            </a:pPr>
            <a:r>
              <a:rPr lang="en-US" sz="1200" b="1" dirty="0"/>
              <a:t>Risks of Delayed Sepsis Recognition</a:t>
            </a:r>
          </a:p>
          <a:p>
            <a:pPr marL="0" lvl="1" indent="0">
              <a:buFont typeface="Arial" panose="020B0604020202020204" pitchFamily="34" charset="0"/>
              <a:buNone/>
            </a:pPr>
            <a:r>
              <a:rPr lang="en-US" sz="1200" dirty="0"/>
              <a:t>Late detection of sepsis significantly raises mortality risk and complicates patient recovery in intensive care units.</a:t>
            </a:r>
          </a:p>
          <a:p>
            <a:pPr marL="0" indent="0">
              <a:spcBef>
                <a:spcPts val="2500"/>
              </a:spcBef>
              <a:buFont typeface="Arial" panose="020B0604020202020204" pitchFamily="34" charset="0"/>
              <a:buNone/>
            </a:pPr>
            <a:r>
              <a:rPr lang="en-US" sz="1200" b="1" dirty="0"/>
              <a:t>Benefits of Early Intervention</a:t>
            </a:r>
          </a:p>
          <a:p>
            <a:pPr marL="0" lvl="1" indent="0">
              <a:buFont typeface="Arial" panose="020B0604020202020204" pitchFamily="34" charset="0"/>
              <a:buNone/>
            </a:pPr>
            <a:r>
              <a:rPr lang="en-US" sz="1200" dirty="0"/>
              <a:t>Timely intervention results in better survival, improved ICU outcomes, and reduced hospital stays for sepsis patients.</a:t>
            </a:r>
          </a:p>
          <a:p>
            <a:pPr marL="0" indent="0">
              <a:spcBef>
                <a:spcPts val="2500"/>
              </a:spcBef>
              <a:buFont typeface="Arial" panose="020B0604020202020204" pitchFamily="34" charset="0"/>
              <a:buNone/>
            </a:pPr>
            <a:r>
              <a:rPr lang="en-US" sz="1200" b="1" dirty="0"/>
              <a:t>Challenges in Data Interpretation</a:t>
            </a:r>
          </a:p>
          <a:p>
            <a:pPr marL="0" lvl="1" indent="0">
              <a:buFont typeface="Arial" panose="020B0604020202020204" pitchFamily="34" charset="0"/>
              <a:buNone/>
            </a:pPr>
            <a:r>
              <a:rPr lang="en-US" sz="1200" dirty="0"/>
              <a:t>Clinicians struggle with vast patient data and traditional scoring tools that may miss subtle, early warning signs.</a:t>
            </a:r>
          </a:p>
          <a:p>
            <a:pPr marL="0" indent="0">
              <a:spcBef>
                <a:spcPts val="2500"/>
              </a:spcBef>
              <a:buFont typeface="Arial" panose="020B0604020202020204" pitchFamily="34" charset="0"/>
              <a:buNone/>
            </a:pPr>
            <a:r>
              <a:rPr lang="en-US" sz="1200" b="1" dirty="0"/>
              <a:t>AI's Role in Early Detection</a:t>
            </a:r>
          </a:p>
          <a:p>
            <a:pPr marL="0" lvl="1" indent="0">
              <a:buFont typeface="Arial" panose="020B0604020202020204" pitchFamily="34" charset="0"/>
              <a:buNone/>
            </a:pPr>
            <a:r>
              <a:rPr lang="en-US" sz="1200" dirty="0"/>
              <a:t>Artificial intelligence can uncover hidden clinical patterns, enabling earlier identification of sepsis than human evaluation alone.</a:t>
            </a:r>
          </a:p>
        </p:txBody>
      </p:sp>
    </p:spTree>
    <p:extLst>
      <p:ext uri="{BB962C8B-B14F-4D97-AF65-F5344CB8AC3E}">
        <p14:creationId xmlns:p14="http://schemas.microsoft.com/office/powerpoint/2010/main" val="274491977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A1509D-C849-B77F-7059-22129E8AAC5E}"/>
              </a:ext>
            </a:extLst>
          </p:cNvPr>
          <p:cNvSpPr>
            <a:spLocks noGrp="1"/>
          </p:cNvSpPr>
          <p:nvPr>
            <p:ph type="title"/>
          </p:nvPr>
        </p:nvSpPr>
        <p:spPr>
          <a:xfrm>
            <a:off x="5568534" y="603504"/>
            <a:ext cx="5916169" cy="1527048"/>
          </a:xfrm>
        </p:spPr>
        <p:txBody>
          <a:bodyPr vert="horz" lIns="91440" tIns="45720" rIns="91440" bIns="45720" rtlCol="0" anchor="b">
            <a:normAutofit/>
          </a:bodyPr>
          <a:lstStyle/>
          <a:p>
            <a:r>
              <a:rPr lang="en-US" sz="3600" b="1" kern="1200" dirty="0">
                <a:solidFill>
                  <a:schemeClr val="tx1"/>
                </a:solidFill>
                <a:latin typeface="+mj-lt"/>
                <a:ea typeface="+mj-ea"/>
                <a:cs typeface="+mj-cs"/>
              </a:rPr>
              <a:t>AI Enhances Sepsis Detection</a:t>
            </a:r>
          </a:p>
        </p:txBody>
      </p:sp>
      <p:pic>
        <p:nvPicPr>
          <p:cNvPr id="5" name="Content Placeholder 4" descr="Surgeon in protective mask preparing for operation">
            <a:extLst>
              <a:ext uri="{FF2B5EF4-FFF2-40B4-BE49-F238E27FC236}">
                <a16:creationId xmlns:a16="http://schemas.microsoft.com/office/drawing/2014/main" id="{3781C866-B7DE-40D3-919C-A5AB35A02A60}"/>
              </a:ext>
            </a:extLst>
          </p:cNvPr>
          <p:cNvPicPr>
            <a:picLocks noGrp="1" noChangeAspect="1"/>
          </p:cNvPicPr>
          <p:nvPr>
            <p:ph sz="half" idx="1"/>
          </p:nvPr>
        </p:nvPicPr>
        <p:blipFill>
          <a:blip r:embed="rId3"/>
          <a:srcRect l="44354" r="7852" b="-1"/>
          <a:stretch>
            <a:fillRect/>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3E74A29E-1838-FBE4-928C-DAC334D0983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3" y="2214282"/>
            <a:ext cx="5916169" cy="4095078"/>
          </a:xfrm>
        </p:spPr>
        <p:txBody>
          <a:bodyPr>
            <a:normAutofit/>
          </a:bodyPr>
          <a:lstStyle/>
          <a:p>
            <a:pPr marL="0" indent="0">
              <a:spcBef>
                <a:spcPts val="2500"/>
              </a:spcBef>
              <a:buFont typeface="Arial" panose="020B0604020202020204" pitchFamily="34" charset="0"/>
              <a:buNone/>
            </a:pPr>
            <a:r>
              <a:rPr lang="en-US" sz="1600" b="1" dirty="0"/>
              <a:t>Real-Time EHR Analysis</a:t>
            </a:r>
          </a:p>
          <a:p>
            <a:pPr marL="0" lvl="1" indent="0">
              <a:buFont typeface="Arial" panose="020B0604020202020204" pitchFamily="34" charset="0"/>
              <a:buNone/>
            </a:pPr>
            <a:r>
              <a:rPr lang="en-US" sz="1600" dirty="0"/>
              <a:t>AI rapidly analyzes electronic health record (EHR) data to find early indications of sepsis, supporting timely clinical action.</a:t>
            </a:r>
          </a:p>
          <a:p>
            <a:pPr marL="0" indent="0">
              <a:spcBef>
                <a:spcPts val="2500"/>
              </a:spcBef>
              <a:buFont typeface="Arial" panose="020B0604020202020204" pitchFamily="34" charset="0"/>
              <a:buNone/>
            </a:pPr>
            <a:r>
              <a:rPr lang="en-US" sz="1600" b="1" dirty="0"/>
              <a:t>Pattern Detection with Machine Learning</a:t>
            </a:r>
          </a:p>
          <a:p>
            <a:pPr marL="0" lvl="1" indent="0">
              <a:buFont typeface="Arial" panose="020B0604020202020204" pitchFamily="34" charset="0"/>
              <a:buNone/>
            </a:pPr>
            <a:r>
              <a:rPr lang="en-US" sz="1600" dirty="0"/>
              <a:t>Machine learning integrates vital signs, lab results, and trends to detect complex patterns that may signal sepsis.</a:t>
            </a:r>
          </a:p>
          <a:p>
            <a:pPr marL="0" indent="0">
              <a:spcBef>
                <a:spcPts val="2500"/>
              </a:spcBef>
              <a:buFont typeface="Arial" panose="020B0604020202020204" pitchFamily="34" charset="0"/>
              <a:buNone/>
            </a:pPr>
            <a:r>
              <a:rPr lang="en-US" sz="1600" b="1" dirty="0"/>
              <a:t>Automated Alerts and Risk Scoring</a:t>
            </a:r>
          </a:p>
          <a:p>
            <a:pPr marL="0" lvl="1" indent="0">
              <a:buFont typeface="Arial" panose="020B0604020202020204" pitchFamily="34" charset="0"/>
              <a:buNone/>
            </a:pPr>
            <a:r>
              <a:rPr lang="en-US" sz="1600" dirty="0"/>
              <a:t>AI sends real-time alerts to clinicians and updates patient risk scores as new information is entered, enabling early intervention.</a:t>
            </a:r>
          </a:p>
        </p:txBody>
      </p:sp>
    </p:spTree>
    <p:extLst>
      <p:ext uri="{BB962C8B-B14F-4D97-AF65-F5344CB8AC3E}">
        <p14:creationId xmlns:p14="http://schemas.microsoft.com/office/powerpoint/2010/main" val="326975704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4DF56D-9A8D-6AFA-674A-4A9714E5AC82}"/>
              </a:ext>
            </a:extLst>
          </p:cNvPr>
          <p:cNvSpPr>
            <a:spLocks noGrp="1"/>
          </p:cNvSpPr>
          <p:nvPr>
            <p:ph type="title"/>
          </p:nvPr>
        </p:nvSpPr>
        <p:spPr>
          <a:xfrm>
            <a:off x="236438" y="0"/>
            <a:ext cx="6125174" cy="812835"/>
          </a:xfrm>
        </p:spPr>
        <p:txBody>
          <a:bodyPr vert="horz" lIns="91440" tIns="45720" rIns="91440" bIns="45720" rtlCol="0" anchor="b">
            <a:normAutofit/>
          </a:bodyPr>
          <a:lstStyle/>
          <a:p>
            <a:r>
              <a:rPr lang="en-US" sz="2800" b="1" kern="1200" dirty="0">
                <a:solidFill>
                  <a:schemeClr val="tx1"/>
                </a:solidFill>
                <a:latin typeface="+mj-lt"/>
                <a:ea typeface="+mj-ea"/>
                <a:cs typeface="+mj-cs"/>
              </a:rPr>
              <a:t>AI Tools for Sepsis Detection</a:t>
            </a:r>
          </a:p>
        </p:txBody>
      </p:sp>
      <p:sp>
        <p:nvSpPr>
          <p:cNvPr id="4" name="Content Placeholder 3">
            <a:extLst>
              <a:ext uri="{FF2B5EF4-FFF2-40B4-BE49-F238E27FC236}">
                <a16:creationId xmlns:a16="http://schemas.microsoft.com/office/drawing/2014/main" id="{E0261C79-4DA9-C8EC-A60A-EF29DD42567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36438" y="812835"/>
            <a:ext cx="6035041" cy="2043467"/>
          </a:xfrm>
        </p:spPr>
        <p:txBody>
          <a:bodyPr>
            <a:normAutofit/>
          </a:bodyPr>
          <a:lstStyle/>
          <a:p>
            <a:pPr>
              <a:spcBef>
                <a:spcPts val="2500"/>
              </a:spcBef>
            </a:pPr>
            <a:r>
              <a:rPr lang="en-US" sz="1400" b="1" dirty="0"/>
              <a:t> TREWS (Targeted Real-time Early Warning System)</a:t>
            </a:r>
            <a:r>
              <a:rPr lang="en-US" sz="1400" dirty="0"/>
              <a:t> – Developed at </a:t>
            </a:r>
            <a:r>
              <a:rPr lang="en-US" sz="1400" b="1" dirty="0"/>
              <a:t>Johns Hopkins University</a:t>
            </a:r>
            <a:r>
              <a:rPr lang="en-US" sz="1400" dirty="0"/>
              <a:t>, designed to detect sepsis earlier and prompt    clinician review.</a:t>
            </a:r>
          </a:p>
          <a:p>
            <a:pPr marL="285750" lvl="1" indent="-285750"/>
            <a:r>
              <a:rPr lang="en-US" sz="1400" b="1" dirty="0"/>
              <a:t>Epic Sepsis Model</a:t>
            </a:r>
            <a:r>
              <a:rPr lang="en-US" sz="1400" dirty="0"/>
              <a:t>  - A predictive model integrated into the </a:t>
            </a:r>
            <a:r>
              <a:rPr lang="en-US" sz="1400" b="1" dirty="0"/>
              <a:t>Epic electronic health record system</a:t>
            </a:r>
            <a:r>
              <a:rPr lang="en-US" sz="1400" dirty="0"/>
              <a:t>, used across many hospitals for automated sepsis alerts.</a:t>
            </a:r>
          </a:p>
          <a:p>
            <a:pPr marL="285750" lvl="1" indent="-285750"/>
            <a:r>
              <a:rPr lang="en-US" sz="1400" b="1" dirty="0" err="1"/>
              <a:t>InSight</a:t>
            </a:r>
            <a:r>
              <a:rPr lang="en-US" sz="1400" b="1" dirty="0"/>
              <a:t> Sepsis Algorithm</a:t>
            </a:r>
            <a:r>
              <a:rPr lang="en-US" sz="1400" dirty="0"/>
              <a:t> – A machine-learning model developed by researchers at </a:t>
            </a:r>
            <a:r>
              <a:rPr lang="en-US" sz="1400" b="1" dirty="0"/>
              <a:t>University of California, San Francisco</a:t>
            </a:r>
            <a:r>
              <a:rPr lang="en-US" sz="1400" dirty="0"/>
              <a:t> using clinical data to predict sepsis risk.</a:t>
            </a:r>
          </a:p>
        </p:txBody>
      </p:sp>
      <p:pic>
        <p:nvPicPr>
          <p:cNvPr id="5" name="Content Placeholder 4" descr="Biomedical engineering robot in a lab">
            <a:extLst>
              <a:ext uri="{FF2B5EF4-FFF2-40B4-BE49-F238E27FC236}">
                <a16:creationId xmlns:a16="http://schemas.microsoft.com/office/drawing/2014/main" id="{A70D1D5E-B243-4EA0-B68C-A74CC9D5A6CC}"/>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l="26448" r="26448"/>
          <a:stretch/>
        </p:blipFill>
        <p:spPr>
          <a:xfrm>
            <a:off x="7345680" y="10"/>
            <a:ext cx="4846320" cy="6857990"/>
          </a:xfrm>
          <a:prstGeom prst="rect">
            <a:avLst/>
          </a:prstGeom>
        </p:spPr>
      </p:pic>
      <p:sp>
        <p:nvSpPr>
          <p:cNvPr id="3" name="TextBox 2">
            <a:extLst>
              <a:ext uri="{FF2B5EF4-FFF2-40B4-BE49-F238E27FC236}">
                <a16:creationId xmlns:a16="http://schemas.microsoft.com/office/drawing/2014/main" id="{27FDB504-1869-4BF3-75B0-6860A3673BBA}"/>
              </a:ext>
            </a:extLst>
          </p:cNvPr>
          <p:cNvSpPr txBox="1"/>
          <p:nvPr/>
        </p:nvSpPr>
        <p:spPr>
          <a:xfrm>
            <a:off x="718894" y="3127152"/>
            <a:ext cx="6523590" cy="461665"/>
          </a:xfrm>
          <a:prstGeom prst="rect">
            <a:avLst/>
          </a:prstGeom>
          <a:noFill/>
        </p:spPr>
        <p:txBody>
          <a:bodyPr wrap="square" rtlCol="0">
            <a:spAutoFit/>
          </a:bodyPr>
          <a:lstStyle/>
          <a:p>
            <a:pPr algn="r"/>
            <a:r>
              <a:rPr lang="en-US" sz="2400" b="1" dirty="0"/>
              <a:t>Benefits, Challenges, and Future Directions</a:t>
            </a:r>
            <a:endParaRPr lang="en-CA" sz="2400" b="1" dirty="0"/>
          </a:p>
        </p:txBody>
      </p:sp>
      <p:sp>
        <p:nvSpPr>
          <p:cNvPr id="6" name="TextBox 5">
            <a:extLst>
              <a:ext uri="{FF2B5EF4-FFF2-40B4-BE49-F238E27FC236}">
                <a16:creationId xmlns:a16="http://schemas.microsoft.com/office/drawing/2014/main" id="{157F06A7-8694-1B43-E69F-ED5085227FDA}"/>
              </a:ext>
            </a:extLst>
          </p:cNvPr>
          <p:cNvSpPr txBox="1"/>
          <p:nvPr/>
        </p:nvSpPr>
        <p:spPr>
          <a:xfrm>
            <a:off x="482456" y="3549529"/>
            <a:ext cx="6760028" cy="3108543"/>
          </a:xfrm>
          <a:prstGeom prst="rect">
            <a:avLst/>
          </a:prstGeom>
          <a:noFill/>
        </p:spPr>
        <p:txBody>
          <a:bodyPr wrap="square" rtlCol="0">
            <a:spAutoFit/>
          </a:bodyPr>
          <a:lstStyle/>
          <a:p>
            <a:pPr algn="r"/>
            <a:r>
              <a:rPr lang="en-US" sz="1400" b="1" dirty="0"/>
              <a:t>Benefits</a:t>
            </a:r>
            <a:endParaRPr lang="en-US" sz="1400" dirty="0"/>
          </a:p>
          <a:p>
            <a:pPr algn="r"/>
            <a:r>
              <a:rPr lang="en-US" sz="1400" dirty="0"/>
              <a:t>Earlier recognition and treatment</a:t>
            </a:r>
          </a:p>
          <a:p>
            <a:pPr algn="r"/>
            <a:r>
              <a:rPr lang="en-US" sz="1400" dirty="0"/>
              <a:t>Reduced mortality and ICU admissions</a:t>
            </a:r>
          </a:p>
          <a:p>
            <a:pPr algn="r"/>
            <a:r>
              <a:rPr lang="en-US" sz="1400" dirty="0"/>
              <a:t>Improved clinician situational awareness</a:t>
            </a:r>
          </a:p>
          <a:p>
            <a:pPr algn="r"/>
            <a:endParaRPr lang="en-US" sz="1400" dirty="0"/>
          </a:p>
          <a:p>
            <a:pPr algn="r"/>
            <a:r>
              <a:rPr lang="en-US" sz="1400" b="1" dirty="0"/>
              <a:t>Challenges</a:t>
            </a:r>
            <a:endParaRPr lang="en-US" sz="1400" dirty="0"/>
          </a:p>
          <a:p>
            <a:pPr algn="r"/>
            <a:r>
              <a:rPr lang="en-US" sz="1400" dirty="0"/>
              <a:t>False alerts and </a:t>
            </a:r>
            <a:r>
              <a:rPr lang="en-US" sz="1400" b="1" dirty="0"/>
              <a:t>alert fatigue</a:t>
            </a:r>
            <a:endParaRPr lang="en-US" sz="1400" dirty="0"/>
          </a:p>
          <a:p>
            <a:pPr algn="r"/>
            <a:r>
              <a:rPr lang="en-US" sz="1400" dirty="0"/>
              <a:t>Data bias and variability across hospitals</a:t>
            </a:r>
          </a:p>
          <a:p>
            <a:pPr algn="r"/>
            <a:r>
              <a:rPr lang="en-US" sz="1400" dirty="0"/>
              <a:t>Integration into clinical workflows</a:t>
            </a:r>
          </a:p>
          <a:p>
            <a:pPr algn="r"/>
            <a:endParaRPr lang="en-US" sz="1400" dirty="0"/>
          </a:p>
          <a:p>
            <a:pPr algn="r"/>
            <a:r>
              <a:rPr lang="en-US" sz="1400" b="1" dirty="0"/>
              <a:t>Future Directions</a:t>
            </a:r>
            <a:endParaRPr lang="en-US" sz="1400" dirty="0"/>
          </a:p>
          <a:p>
            <a:pPr algn="r"/>
            <a:r>
              <a:rPr lang="en-US" sz="1400" dirty="0"/>
              <a:t>Integration with </a:t>
            </a:r>
            <a:r>
              <a:rPr lang="en-US" sz="1400" b="1" dirty="0"/>
              <a:t>wearables and bedside monitors</a:t>
            </a:r>
            <a:endParaRPr lang="en-US" sz="1400" dirty="0"/>
          </a:p>
          <a:p>
            <a:pPr algn="r"/>
            <a:r>
              <a:rPr lang="en-US" sz="1400" b="1" dirty="0"/>
              <a:t>Multimodal AI models</a:t>
            </a:r>
            <a:r>
              <a:rPr lang="en-US" sz="1400" dirty="0"/>
              <a:t> (labs, notes, imaging)</a:t>
            </a:r>
          </a:p>
          <a:p>
            <a:pPr algn="r"/>
            <a:r>
              <a:rPr lang="en-US" sz="1400" dirty="0"/>
              <a:t>Improved collaboration between healthcare systems</a:t>
            </a:r>
          </a:p>
        </p:txBody>
      </p:sp>
    </p:spTree>
    <p:extLst>
      <p:ext uri="{BB962C8B-B14F-4D97-AF65-F5344CB8AC3E}">
        <p14:creationId xmlns:p14="http://schemas.microsoft.com/office/powerpoint/2010/main" val="2773153832"/>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TotalTime>
  <Words>664</Words>
  <Application>Microsoft Office PowerPoint</Application>
  <PresentationFormat>Widescreen</PresentationFormat>
  <Paragraphs>52</Paragraphs>
  <Slides>5</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Calibri</vt:lpstr>
      <vt:lpstr>Office Theme</vt:lpstr>
      <vt:lpstr>Artificial Intelligence in Healthcare: Early Detection of Sepsis</vt:lpstr>
      <vt:lpstr>Understanding Sepsis</vt:lpstr>
      <vt:lpstr>Importance of Early Detection</vt:lpstr>
      <vt:lpstr>AI Enhances Sepsis Detection</vt:lpstr>
      <vt:lpstr>AI Tools for Sepsis Detection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 A</dc:creator>
  <cp:lastModifiedBy>J A</cp:lastModifiedBy>
  <cp:revision>1</cp:revision>
  <dcterms:created xsi:type="dcterms:W3CDTF">2026-03-10T00:37:47Z</dcterms:created>
  <dcterms:modified xsi:type="dcterms:W3CDTF">2026-03-10T01:20:11Z</dcterms:modified>
</cp:coreProperties>
</file>